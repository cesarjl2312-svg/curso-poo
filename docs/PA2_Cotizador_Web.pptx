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e5adc903-40cb-27a4-8c34-6ad33713e1ff}">
          <p14:sldIdLst>
            <p14:sldId id="256"/>
            <p14:sldId id="257"/>
          </p14:sldIdLst>
        </p14:section>
        <p14:section name="Proyecto web" id="{7808e1d1-830a-7f42-73e4-985b4c494228}">
          <p14:sldIdLst>
            <p14:sldId id="258"/>
            <p14:sldId id="259"/>
          </p14:sldIdLst>
        </p14:section>
        <p14:section name="Clase String" id="{b5d5c994-cff5-2b9e-7fb7-dea27120e6b9}">
          <p14:sldIdLst>
            <p14:sldId id="260"/>
            <p14:sldId id="261"/>
          </p14:sldIdLst>
        </p14:section>
        <p14:section name="Clase Math" id="{70f4ac68-fba4-51ca-541b-718534531194}">
          <p14:sldIdLst>
            <p14:sldId id="262"/>
          </p14:sldIdLst>
        </p14:section>
        <p14:section name="Resultados" id="{05fcb2de-3276-7686-5f92-897071dbae38}">
          <p14:sldIdLst>
            <p14:sldId id="263"/>
            <p14:sldId id="264"/>
            <p14:sldId id="265"/>
          </p14:sldIdLst>
        </p14:section>
        <p14:section name="Cierre" id="{f7996faf-a937-292b-8a32-2ba56b860ef7}">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Buenos días, profesor. Somos el equipo de la PA2 del curso Programación Orientada a Objetos. Yo soy César Maguiña y me acompaña Angel Reyes.
[ANGEL] Hola, soy Angel Reyes. En este video vamos a explicar cómo resolvimos la evaluación: un Cotizador Web hecho con JSP y Apache Tomcat que usa métodos de la clase Math y de la clase String.
[CÉSAR] Primero contamos el caso y la solución, luego mostramos el código y al final hacemos la demostración en vivo y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El caso de la evaluación pide una mini aplicación web que reciba datos por formulario, haga cálculos sencillos y valide las cadenas que escribe el usuario.
Nosotros lo llevamos a una situación real: una empresa que vende laptops, monitores, impresoras y soporte técnico, y que quiere que sus clientes pidan una cotización por la web.
La solución sigue tres pasos. La entrada es index.jsp, el formulario. El procesamiento lo hacen nuestras clases Java: ValidadorDatos revisa los textos con String y Cotizacion calcula los montos con Math. Y la salida es resultado.jsp, que muestra la cotización o la lista de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Creamos un proyecto Maven de tipo web que se despliega en Apache Tomcat, como vimos en la sesión 5.
Tomamos una decisión importante: los JSP solo leen los datos y muestran resultados, y toda la lógica está en clases Java. Así el código es más ordenado y cada clase se puede probar por separado.
Arriba está la capa web: index.jsp, resultado.jsp y dos fragmentos que se incluyen con la directiva include. También dejamos calculadora.jsp, que fue nuestra primera versión.
Abajo están los paquetes: modelo, con el producto, el catálogo, el cliente y la cotización; util, con ProCadenas para String, ProAritmetica para Math y el validador; y pruebas, con una clase main que verifica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Este es el flujo en código. El formulario de index.jsp envía los datos por POST a resultado.jsp.
En resultado.jsp primero ponemos la codificación UTF-8, para que lleguen bien las tildes y la ñ. Luego leemos cada campo con request.getParameter.
Después llamamos a ValidadorDatos.validar, que devuelve una lista de errores. Si la lista está vacía, creamos el objeto Cliente y el objeto Cotizacion, que hace todos los cálculos. Si hay errores, los mostramos y damos un botón para corregir sin perder lo escrito.
Para ejecutarlo: generamos el WAR con mvn package, lo copiamos a la carpeta webapps de Tomcat y entramos a localhost:8080/CotizadorWeb.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 Ahora la parte de String, de la sesión 7. Antes de calcular, validamos cada campo en el servidor, aunque el formulario ya tenga campos obligatorios, porque esas reglas del navegador se pueden saltar.
Para el nombre recorremos cada carácter con charAt y verificamos que sea letra o espacio, y con split contamos que haya al menos dos palabras.
El DNI debe tener exactamente 8 dígitos. El celular debe tener 9 dígitos y empezar con 9: primero quitamos espacios con replace y luego usamos startsWith.
Para el correo usamos contains para que no tenga espacios, contamos que haya una sola arroba, y con indexOf y lastIndexOf verificamos que haya un punto después de la arroba.
Y el cupón lo pasamos a mayúsculas, verificamos que empiece con PROMO y con substring sacamos el número.
Si algo falla, como en esta captura, no se calcula nada y se muestran todos los errores 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 String no solo sirve para validar, también para transformar. Esta lógica está en la clase ProCadenas, que hicimos con métodos estáticos como la clase del mismo nombre que vimos en clase.
Si el usuario escribe su nombre con espacios de más y mayúsculas mezcladas, normalizarEspacios quita los espacios con trim y charAt, y capitalizarPalabras separa con split y arma cada palabra con substring, toUpperCase y toLowerCase.
El correo se guarda en minúsculas y se muestra oculto: con indexOf ubicamos la arroba, con substring separamos el usuario y con repeat ponemos los asteriscos.
El celular se muestra en grupos de tres con substring, y las iniciales se sacan con charAt.
Por último, escaparHtml usa replace para que si alguien escribe código HTML, se vea como texto y no se ejecute.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 Ahora Math, de la sesión 6. La clase ProAritmetica agrupa los métodos y la clase Cotizacion los usa en orden.
Primero el subtotal: precio por cantidad, redondeado a céntimos con Math.round.
Luego el descuento: 5 por ciento si se compran 10 o más unidades, más el cupón. Con Math.min y Math.max lo limitamos a un máximo de 20 por ciento.
Después el IGV de 18 por ciento y el total, siempre redondeados a dos decimales.
Si el cliente paga en cuotas, usamos la fórmula de cuota fija del sistema francés, con Math.pow para elevar a la menos n. Y la cuota la redondeamos hacia arriba con Math.ceil, para que la empresa no cobre de menos.
Además, el código de la cotización tiene una parte aleatoria hecha con Math.random, como el método numeroAleatorio que vimos en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 Para verificar los cálculos hicimos este caso a mano y lo comparamos con el programa.
Diez laptops de 2,899 soles dan un subtotal de 28,990. Como son 10 unidades hay 5 por ciento por volumen, y el cupón PROMO10 suma otro 10, en total 15 por ciento de descuento.
El valor de venta queda en 24,641.50, el IGV es 4,435.47 y el total es 29,076.97 soles.
En 6 cuotas al 1.5 por ciento mensual, la fórmula da 5,103.74 y con Math.ceil queda en 5,103.75. Los intereses suman 1,545.53 soles.
El programa dio exactamente los mismos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Esta es la salida en resultado.jsp. Arriba aparece el código único de la cotización, que combina las iniciales, los tres últimos dígitos del DNI y un número aleatorio.
Luego los datos del cliente ya normalizados, con el correo oculto, y el detalle de montos: subtotal, descuento, valor de venta, IGV y total. Debajo, la forma de pago.
A la derecha está una tabla que agregamos para la sustentación: para cada dato muestra lo que escribió el usuario, qué métodos de String o Math se aplicaron y el resultado. Así se ve claramente la entrada, el procesamiento y la salida.
[AQUÍ HACER LA DEMO EN VIVO: ver el guion.]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Para asegurarnos de que todo funciona, hicimos dos tipos de pruebas.
La primera es por consola: la clase PruebasCotizador tiene un método main, igual que en los ejercicios de clase, y revisa 46 casos de las cuatro clases principales. Los 46 salieron correctos.
[ANGEL] La segunda son pruebas funcionales en el navegador con Tomcat: un caso al contado, uno con cupón y cuotas, uno donde el descuento pasa del tope, nombres con tildes y ñ, datos inválidos y hasta un intento de meter código HTML. Todos dieron el resultado esperado, y las capturas están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 Resumimos las decisiones técnicas que tomamos.
Primero, separar la lógica en clases y dejar los JSP solo para mostrar. Segundo, validar todo en el servidor. Tercero, escapar el HTML con replace para que nadie pueda inyectar código en la página. Y cuarto, usar Math para redondear bien el dinero: round para los céntimos y ceil para la cuota.
[CÉSAR] En cuanto al trabajo en equipo, yo creé el proyecto web, las vistas JSP y el flujo de datos, y Angel desarrolló las clases de String y Math, el validador y las pruebas. Coordinamos los cambios en el repositorio de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Para cerrar, lo que nos llevamos de esta evaluación: entendimos cómo viaja un dato desde el formulario hasta el servidor Tomcat y vuelve convertido en página.
[ANGEL] Aprendimos a usar los métodos de String para validar y transformar textos, y los de Math para resolver un cálculo real de dinero.
[CÉSAR] Como mejora, nos gustaría guardar las cotizaciones en una base de datos y enviarlas por correo.
[AMBOS] Muchas gracias, profesor.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63A5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514600"/>
            <a:ext cx="8046720" cy="54864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PA2 | Programación Orientada a Objetos (30626)</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63A5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Cotizador Web</a:t>
            </a:r>
            <a:endParaRPr lang="en-US" sz="4000" dirty="0"/>
          </a:p>
        </p:txBody>
      </p:sp>
      <p:sp>
        <p:nvSpPr>
          <p:cNvPr id="3" name="Text 0"/>
          <p:cNvSpPr/>
          <p:nvPr>
            <p:ph idx="101" type="body" hasCustomPrompt="1"/>
          </p:nvPr>
        </p:nvSpPr>
        <p:spPr>
          <a:xfrm>
            <a:off x="548640" y="2514600"/>
            <a:ext cx="8046720" cy="548640"/>
          </a:xfrm>
          <a:prstGeom prst="rect">
            <a:avLst/>
          </a:prstGeom>
          <a:noFill/>
          <a:ln/>
        </p:spPr>
        <p:txBody>
          <a:bodyPr wrap="square" lIns="0" tIns="0" rIns="0" bIns="0" rtlCol="0"/>
          <a:lstStyle/>
          <a:p>
            <a:pPr indent="0" marL="0">
              <a:buNone/>
            </a:pPr>
            <a:r>
              <a:rPr lang="en-US" sz="1800" dirty="0">
                <a:solidFill>
                  <a:schemeClr val="accent2"/>
                </a:solidFill>
              </a:rPr>
              <a:t>Mini aplicación de cotización y validación de datos con JSP, Tomcat, Math y String</a:t>
            </a:r>
            <a:endParaRPr lang="en-US" sz="1800" dirty="0"/>
          </a:p>
        </p:txBody>
      </p:sp>
      <p:sp>
        <p:nvSpPr>
          <p:cNvPr id="4" name="Datos del equipo"/>
          <p:cNvSpPr txBox="1"/>
          <p:nvPr/>
        </p:nvSpPr>
        <p:spPr>
          <a:xfrm>
            <a:off x="548640" y="3429000"/>
            <a:ext cx="8046720" cy="1005840"/>
          </a:xfrm>
          <a:prstGeom prst="rect">
            <a:avLst/>
          </a:prstGeom>
          <a:noFill/>
          <a:ln/>
        </p:spPr>
        <p:txBody>
          <a:bodyPr wrap="square" lIns="0" tIns="0" rIns="0" bIns="0" rtlCol="0" anchor="ctr"/>
          <a:lstStyle/>
          <a:p>
            <a:pPr indent="0" marL="0">
              <a:spcAft>
                <a:spcPts val="400"/>
              </a:spcAft>
              <a:buNone/>
            </a:pPr>
            <a:r>
              <a:rPr lang="en-US" sz="1400" b="1" dirty="0">
                <a:solidFill>
                  <a:schemeClr val="accent6"/>
                </a:solidFill>
              </a:rPr>
              <a:t>Integrantes: </a:t>
            </a:r>
            <a:pPr indent="0" marL="0">
              <a:spcAft>
                <a:spcPts val="400"/>
              </a:spcAft>
              <a:buNone/>
            </a:pPr>
            <a:r>
              <a:rPr lang="en-US" sz="1400" dirty="0">
                <a:solidFill>
                  <a:schemeClr val="accent6"/>
                </a:solidFill>
              </a:rPr>
              <a:t>César Augusto Maguiña Robles  |  Angel Fernando Reyes Moreno</a:t>
            </a:r>
            <a:endParaRPr lang="en-US" sz="1400" dirty="0"/>
          </a:p>
          <a:p>
            <a:pPr indent="0" marL="0">
              <a:spcAft>
                <a:spcPts val="400"/>
              </a:spcAft>
              <a:buNone/>
            </a:pPr>
            <a:r>
              <a:rPr lang="en-US" sz="1400" b="1" dirty="0">
                <a:solidFill>
                  <a:schemeClr val="accent6"/>
                </a:solidFill>
              </a:rPr>
              <a:t>Docente: </a:t>
            </a:r>
            <a:pPr indent="0" marL="0">
              <a:spcAft>
                <a:spcPts val="400"/>
              </a:spcAft>
              <a:buNone/>
            </a:pPr>
            <a:r>
              <a:rPr lang="en-US" sz="1400" dirty="0">
                <a:solidFill>
                  <a:schemeClr val="accent6"/>
                </a:solidFill>
              </a:rPr>
              <a:t>Wilder Julio Espinoza Bravo</a:t>
            </a:r>
            <a:endParaRPr lang="en-US" sz="1400" dirty="0"/>
          </a:p>
          <a:p>
            <a:pPr indent="0" marL="0">
              <a:spcAft>
                <a:spcPts val="400"/>
              </a:spcAft>
              <a:buNone/>
            </a:pPr>
            <a:r>
              <a:rPr lang="en-US" sz="1400" dirty="0">
                <a:solidFill>
                  <a:schemeClr val="accent6"/>
                </a:solidFill>
              </a:rPr>
              <a:t>ISIL  |  Programación Orientada a Objetos (30626)  |  PA2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El caso: cotizar y validar datos desde la web</a:t>
            </a:r>
            <a:endParaRPr lang="en-US" sz="3000" dirty="0"/>
          </a:p>
        </p:txBody>
      </p:sp>
      <p:sp>
        <p:nvSpPr>
          <p:cNvPr id="3" name="Descripción del caso"/>
          <p:cNvSpPr txBox="1"/>
          <p:nvPr/>
        </p:nvSpPr>
        <p:spPr>
          <a:xfrm>
            <a:off x="457200" y="1143000"/>
            <a:ext cx="3931920" cy="32918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Una organización que vende equipos de cómputo necesita que sus clientes pidan una cotización desde un formulario web.</a:t>
            </a:r>
            <a:endParaRPr lang="en-US" sz="1500" dirty="0"/>
          </a:p>
          <a:p>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chemeClr val="tx1"/>
                </a:solidFill>
              </a:rPr>
              <a:t>La aplicación debe:</a:t>
            </a:r>
            <a:endParaRPr lang="en-US" sz="1500" dirty="0"/>
          </a:p>
          <a:p>
            <a:pPr marL="342900" indent="-342900">
              <a:spcAft>
                <a:spcPts val="600"/>
              </a:spcAft>
              <a:buSzPct val="100000"/>
              <a:buChar char="•"/>
            </a:pPr>
            <a:r>
              <a:rPr lang="en-US" sz="1500" dirty="0">
                <a:solidFill>
                  <a:schemeClr val="tx1"/>
                </a:solidFill>
              </a:rPr>
              <a:t>Recibir los datos del cliente y del producto</a:t>
            </a:r>
            <a:endParaRPr lang="en-US" sz="1500" dirty="0"/>
          </a:p>
          <a:p>
            <a:pPr marL="342900" indent="-342900">
              <a:spcAft>
                <a:spcPts val="600"/>
              </a:spcAft>
              <a:buSzPct val="100000"/>
              <a:buChar char="•"/>
            </a:pPr>
            <a:r>
              <a:rPr lang="en-US" sz="1500" dirty="0">
                <a:solidFill>
                  <a:schemeClr val="tx1"/>
                </a:solidFill>
              </a:rPr>
              <a:t>Validar y limpiar los textos con String</a:t>
            </a:r>
            <a:endParaRPr lang="en-US" sz="1500" dirty="0"/>
          </a:p>
          <a:p>
            <a:pPr marL="342900" indent="-342900">
              <a:spcAft>
                <a:spcPts val="600"/>
              </a:spcAft>
              <a:buSzPct val="100000"/>
              <a:buChar char="•"/>
            </a:pPr>
            <a:r>
              <a:rPr lang="en-US" sz="1500" dirty="0">
                <a:solidFill>
                  <a:schemeClr val="tx1"/>
                </a:solidFill>
              </a:rPr>
              <a:t>Calcular descuento, IGV, total y cuotas con Math</a:t>
            </a:r>
            <a:endParaRPr lang="en-US" sz="1500" dirty="0"/>
          </a:p>
          <a:p>
            <a:pPr marL="342900" indent="-342900">
              <a:spcAft>
                <a:spcPts val="600"/>
              </a:spcAft>
              <a:buSzPct val="100000"/>
              <a:buChar char="•"/>
            </a:pPr>
            <a:r>
              <a:rPr lang="en-US" sz="1500" dirty="0">
                <a:solidFill>
                  <a:schemeClr val="tx1"/>
                </a:solidFill>
              </a:rPr>
              <a:t>Mostrar la cotización o los errores</a:t>
            </a:r>
            <a:endParaRPr lang="en-US" sz="1500" dirty="0"/>
          </a:p>
        </p:txBody>
      </p:sp>
      <p:sp>
        <p:nvSpPr>
          <p:cNvPr id="4" name="Paso ENTRADA"/>
          <p:cNvSpPr/>
          <p:nvPr/>
        </p:nvSpPr>
        <p:spPr>
          <a:xfrm>
            <a:off x="4754880" y="1143000"/>
            <a:ext cx="3931920" cy="960120"/>
          </a:xfrm>
          <a:prstGeom prst="roundRect">
            <a:avLst>
              <a:gd name="adj" fmla="val 7619"/>
            </a:avLst>
          </a:prstGeom>
          <a:solidFill>
            <a:srgbClr val="EEF3F8"/>
          </a:solidFill>
          <a:ln w="12700">
            <a:solidFill>
              <a:srgbClr val="EEF3F8"/>
            </a:solidFill>
            <a:prstDash val="solid"/>
          </a:ln>
        </p:spPr>
      </p:sp>
      <p:sp>
        <p:nvSpPr>
          <p:cNvPr id="5" name="Paso ENTRADA círculo"/>
          <p:cNvSpPr/>
          <p:nvPr/>
        </p:nvSpPr>
        <p:spPr>
          <a:xfrm>
            <a:off x="4892040" y="1325880"/>
            <a:ext cx="594360" cy="594360"/>
          </a:xfrm>
          <a:prstGeom prst="ellipse">
            <a:avLst/>
          </a:prstGeom>
          <a:solidFill>
            <a:srgbClr val="1F4E79"/>
          </a:solidFill>
          <a:ln w="12700">
            <a:solidFill>
              <a:srgbClr val="1F4E79"/>
            </a:solidFill>
            <a:prstDash val="solid"/>
          </a:ln>
        </p:spPr>
      </p:sp>
      <p:pic>
        <p:nvPicPr>
          <p:cNvPr id="6" name="Paso ENTRADA ícono" descr="preencoded.png">    </p:cNvPr>
          <p:cNvPicPr>
            <a:picLocks noChangeAspect="1"/>
          </p:cNvPicPr>
          <p:nvPr/>
        </p:nvPicPr>
        <p:blipFill>
          <a:blip r:embed="rId1"/>
          <a:stretch>
            <a:fillRect/>
          </a:stretch>
        </p:blipFill>
        <p:spPr>
          <a:xfrm>
            <a:off x="5040630" y="1474470"/>
            <a:ext cx="297180" cy="297180"/>
          </a:xfrm>
          <a:prstGeom prst="rect">
            <a:avLst/>
          </a:prstGeom>
        </p:spPr>
      </p:pic>
      <p:sp>
        <p:nvSpPr>
          <p:cNvPr id="7" name="Texto paso ENTRADA"/>
          <p:cNvSpPr txBox="1"/>
          <p:nvPr/>
        </p:nvSpPr>
        <p:spPr>
          <a:xfrm>
            <a:off x="5623560" y="1216152"/>
            <a:ext cx="2971800" cy="822960"/>
          </a:xfrm>
          <a:prstGeom prst="rect">
            <a:avLst/>
          </a:prstGeom>
          <a:noFill/>
          <a:ln/>
        </p:spPr>
        <p:txBody>
          <a:bodyPr wrap="square" lIns="0" tIns="0" rIns="0" bIns="0" rtlCol="0" anchor="ctr"/>
          <a:lstStyle/>
          <a:p>
            <a:pPr indent="0" marL="0">
              <a:buNone/>
            </a:pPr>
            <a:r>
              <a:rPr lang="en-US" sz="1300" b="1" dirty="0">
                <a:solidFill>
                  <a:srgbClr val="1F4E79"/>
                </a:solidFill>
              </a:rPr>
              <a:t>ENTRADA</a:t>
            </a:r>
            <a:endParaRPr lang="en-US" sz="1300" dirty="0"/>
          </a:p>
          <a:p>
            <a:pPr indent="0" marL="0">
              <a:buNone/>
            </a:pPr>
            <a:r>
              <a:rPr lang="en-US" sz="1400" b="1" dirty="0">
                <a:solidFill>
                  <a:srgbClr val="1B2430"/>
                </a:solidFill>
              </a:rPr>
              <a:t>index.jsp</a:t>
            </a:r>
            <a:endParaRPr lang="en-US" sz="1300" dirty="0"/>
          </a:p>
          <a:p>
            <a:pPr indent="0" marL="0">
              <a:buNone/>
            </a:pPr>
            <a:r>
              <a:rPr lang="en-US" sz="1200" dirty="0">
                <a:solidFill>
                  <a:srgbClr val="5B6576"/>
                </a:solidFill>
              </a:rPr>
              <a:t>Formulario con 9 campos</a:t>
            </a:r>
            <a:endParaRPr lang="en-US" sz="1300" dirty="0"/>
          </a:p>
        </p:txBody>
      </p:sp>
      <p:sp>
        <p:nvSpPr>
          <p:cNvPr id="8" name="Paso PROCESAMIENTO"/>
          <p:cNvSpPr/>
          <p:nvPr/>
        </p:nvSpPr>
        <p:spPr>
          <a:xfrm>
            <a:off x="4754880" y="2286000"/>
            <a:ext cx="3931920" cy="960120"/>
          </a:xfrm>
          <a:prstGeom prst="roundRect">
            <a:avLst>
              <a:gd name="adj" fmla="val 7619"/>
            </a:avLst>
          </a:prstGeom>
          <a:solidFill>
            <a:srgbClr val="EEF3F8"/>
          </a:solidFill>
          <a:ln w="12700">
            <a:solidFill>
              <a:srgbClr val="EEF3F8"/>
            </a:solidFill>
            <a:prstDash val="solid"/>
          </a:ln>
        </p:spPr>
      </p:sp>
      <p:sp>
        <p:nvSpPr>
          <p:cNvPr id="9" name="Paso PROCESAMIENTO círculo"/>
          <p:cNvSpPr/>
          <p:nvPr/>
        </p:nvSpPr>
        <p:spPr>
          <a:xfrm>
            <a:off x="4892040" y="2468880"/>
            <a:ext cx="594360" cy="594360"/>
          </a:xfrm>
          <a:prstGeom prst="ellipse">
            <a:avLst/>
          </a:prstGeom>
          <a:solidFill>
            <a:srgbClr val="163A5A"/>
          </a:solidFill>
          <a:ln w="12700">
            <a:solidFill>
              <a:srgbClr val="163A5A"/>
            </a:solidFill>
            <a:prstDash val="solid"/>
          </a:ln>
        </p:spPr>
      </p:sp>
      <p:pic>
        <p:nvPicPr>
          <p:cNvPr id="10" name="Paso PROCESAMIENTO ícono" descr="preencoded.png">    </p:cNvPr>
          <p:cNvPicPr>
            <a:picLocks noChangeAspect="1"/>
          </p:cNvPicPr>
          <p:nvPr/>
        </p:nvPicPr>
        <p:blipFill>
          <a:blip r:embed="rId2"/>
          <a:stretch>
            <a:fillRect/>
          </a:stretch>
        </p:blipFill>
        <p:spPr>
          <a:xfrm>
            <a:off x="5040630" y="2617470"/>
            <a:ext cx="297180" cy="297180"/>
          </a:xfrm>
          <a:prstGeom prst="rect">
            <a:avLst/>
          </a:prstGeom>
        </p:spPr>
      </p:pic>
      <p:sp>
        <p:nvSpPr>
          <p:cNvPr id="11" name="Texto paso PROCESAMIENTO"/>
          <p:cNvSpPr txBox="1"/>
          <p:nvPr/>
        </p:nvSpPr>
        <p:spPr>
          <a:xfrm>
            <a:off x="5623560" y="2359152"/>
            <a:ext cx="2971800" cy="822960"/>
          </a:xfrm>
          <a:prstGeom prst="rect">
            <a:avLst/>
          </a:prstGeom>
          <a:noFill/>
          <a:ln/>
        </p:spPr>
        <p:txBody>
          <a:bodyPr wrap="square" lIns="0" tIns="0" rIns="0" bIns="0" rtlCol="0" anchor="ctr"/>
          <a:lstStyle/>
          <a:p>
            <a:pPr indent="0" marL="0">
              <a:buNone/>
            </a:pPr>
            <a:r>
              <a:rPr lang="en-US" sz="1300" b="1" dirty="0">
                <a:solidFill>
                  <a:srgbClr val="163A5A"/>
                </a:solidFill>
              </a:rPr>
              <a:t>PROCESAMIENTO</a:t>
            </a:r>
            <a:endParaRPr lang="en-US" sz="1300" dirty="0"/>
          </a:p>
          <a:p>
            <a:pPr indent="0" marL="0">
              <a:buNone/>
            </a:pPr>
            <a:r>
              <a:rPr lang="en-US" sz="1400" b="1" dirty="0">
                <a:solidFill>
                  <a:srgbClr val="1B2430"/>
                </a:solidFill>
              </a:rPr>
              <a:t>ValidadorDatos + Cotizacion</a:t>
            </a:r>
            <a:endParaRPr lang="en-US" sz="1300" dirty="0"/>
          </a:p>
          <a:p>
            <a:pPr indent="0" marL="0">
              <a:buNone/>
            </a:pPr>
            <a:r>
              <a:rPr lang="en-US" sz="1200" dirty="0">
                <a:solidFill>
                  <a:srgbClr val="5B6576"/>
                </a:solidFill>
              </a:rPr>
              <a:t>String valida, Math calcula</a:t>
            </a:r>
            <a:endParaRPr lang="en-US" sz="1300" dirty="0"/>
          </a:p>
        </p:txBody>
      </p:sp>
      <p:sp>
        <p:nvSpPr>
          <p:cNvPr id="12" name="Paso SALIDA"/>
          <p:cNvSpPr/>
          <p:nvPr/>
        </p:nvSpPr>
        <p:spPr>
          <a:xfrm>
            <a:off x="4754880" y="3429000"/>
            <a:ext cx="3931920" cy="960120"/>
          </a:xfrm>
          <a:prstGeom prst="roundRect">
            <a:avLst>
              <a:gd name="adj" fmla="val 7619"/>
            </a:avLst>
          </a:prstGeom>
          <a:solidFill>
            <a:srgbClr val="EEF3F8"/>
          </a:solidFill>
          <a:ln w="12700">
            <a:solidFill>
              <a:srgbClr val="EEF3F8"/>
            </a:solidFill>
            <a:prstDash val="solid"/>
          </a:ln>
        </p:spPr>
      </p:sp>
      <p:sp>
        <p:nvSpPr>
          <p:cNvPr id="13" name="Paso SALIDA círculo"/>
          <p:cNvSpPr/>
          <p:nvPr/>
        </p:nvSpPr>
        <p:spPr>
          <a:xfrm>
            <a:off x="4892040" y="3611880"/>
            <a:ext cx="594360" cy="594360"/>
          </a:xfrm>
          <a:prstGeom prst="ellipse">
            <a:avLst/>
          </a:prstGeom>
          <a:solidFill>
            <a:srgbClr val="2E7D5B"/>
          </a:solidFill>
          <a:ln w="12700">
            <a:solidFill>
              <a:srgbClr val="2E7D5B"/>
            </a:solidFill>
            <a:prstDash val="solid"/>
          </a:ln>
        </p:spPr>
      </p:sp>
      <p:pic>
        <p:nvPicPr>
          <p:cNvPr id="14" name="Paso SALIDA ícono" descr="preencoded.png">    </p:cNvPr>
          <p:cNvPicPr>
            <a:picLocks noChangeAspect="1"/>
          </p:cNvPicPr>
          <p:nvPr/>
        </p:nvPicPr>
        <p:blipFill>
          <a:blip r:embed="rId3"/>
          <a:stretch>
            <a:fillRect/>
          </a:stretch>
        </p:blipFill>
        <p:spPr>
          <a:xfrm>
            <a:off x="5040630" y="3760470"/>
            <a:ext cx="297180" cy="297180"/>
          </a:xfrm>
          <a:prstGeom prst="rect">
            <a:avLst/>
          </a:prstGeom>
        </p:spPr>
      </p:pic>
      <p:sp>
        <p:nvSpPr>
          <p:cNvPr id="15" name="Texto paso SALIDA"/>
          <p:cNvSpPr txBox="1"/>
          <p:nvPr/>
        </p:nvSpPr>
        <p:spPr>
          <a:xfrm>
            <a:off x="5623560" y="3502152"/>
            <a:ext cx="2971800" cy="822960"/>
          </a:xfrm>
          <a:prstGeom prst="rect">
            <a:avLst/>
          </a:prstGeom>
          <a:noFill/>
          <a:ln/>
        </p:spPr>
        <p:txBody>
          <a:bodyPr wrap="square" lIns="0" tIns="0" rIns="0" bIns="0" rtlCol="0" anchor="ctr"/>
          <a:lstStyle/>
          <a:p>
            <a:pPr indent="0" marL="0">
              <a:buNone/>
            </a:pPr>
            <a:r>
              <a:rPr lang="en-US" sz="1300" b="1" dirty="0">
                <a:solidFill>
                  <a:srgbClr val="2E7D5B"/>
                </a:solidFill>
              </a:rPr>
              <a:t>SALIDA</a:t>
            </a:r>
            <a:endParaRPr lang="en-US" sz="1300" dirty="0"/>
          </a:p>
          <a:p>
            <a:pPr indent="0" marL="0">
              <a:buNone/>
            </a:pPr>
            <a:r>
              <a:rPr lang="en-US" sz="1400" b="1" dirty="0">
                <a:solidFill>
                  <a:srgbClr val="1B2430"/>
                </a:solidFill>
              </a:rPr>
              <a:t>resultado.jsp</a:t>
            </a:r>
            <a:endParaRPr lang="en-US" sz="1300" dirty="0"/>
          </a:p>
          <a:p>
            <a:pPr indent="0" marL="0">
              <a:buNone/>
            </a:pPr>
            <a:r>
              <a:rPr lang="en-US" sz="1200" dirty="0">
                <a:solidFill>
                  <a:srgbClr val="5B6576"/>
                </a:solidFill>
              </a:rPr>
              <a:t>Cotización o lista de errores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Arquitectura del proyecto</a:t>
            </a:r>
            <a:endParaRPr lang="en-US" sz="3000" dirty="0"/>
          </a:p>
        </p:txBody>
      </p:sp>
      <p:sp>
        <p:nvSpPr>
          <p:cNvPr id="3" name="Capa web"/>
          <p:cNvSpPr/>
          <p:nvPr/>
        </p:nvSpPr>
        <p:spPr>
          <a:xfrm>
            <a:off x="457200" y="1097280"/>
            <a:ext cx="8229600" cy="868680"/>
          </a:xfrm>
          <a:prstGeom prst="roundRect">
            <a:avLst>
              <a:gd name="adj" fmla="val 8421"/>
            </a:avLst>
          </a:prstGeom>
          <a:solidFill>
            <a:srgbClr val="EEF3F8"/>
          </a:solidFill>
          <a:ln w="12700">
            <a:solidFill>
              <a:srgbClr val="EEF3F8"/>
            </a:solidFill>
            <a:prstDash val="solid"/>
          </a:ln>
        </p:spPr>
      </p:sp>
      <p:sp>
        <p:nvSpPr>
          <p:cNvPr id="4" name="Capa web círculo"/>
          <p:cNvSpPr/>
          <p:nvPr/>
        </p:nvSpPr>
        <p:spPr>
          <a:xfrm>
            <a:off x="594360" y="1234440"/>
            <a:ext cx="594360" cy="594360"/>
          </a:xfrm>
          <a:prstGeom prst="ellipse">
            <a:avLst/>
          </a:prstGeom>
          <a:solidFill>
            <a:srgbClr val="1F4E79"/>
          </a:solidFill>
          <a:ln w="12700">
            <a:solidFill>
              <a:srgbClr val="1F4E79"/>
            </a:solidFill>
            <a:prstDash val="solid"/>
          </a:ln>
        </p:spPr>
      </p:sp>
      <p:pic>
        <p:nvPicPr>
          <p:cNvPr id="5" name="Capa web ícono" descr="preencoded.png">    </p:cNvPr>
          <p:cNvPicPr>
            <a:picLocks noChangeAspect="1"/>
          </p:cNvPicPr>
          <p:nvPr/>
        </p:nvPicPr>
        <p:blipFill>
          <a:blip r:embed="rId1"/>
          <a:stretch>
            <a:fillRect/>
          </a:stretch>
        </p:blipFill>
        <p:spPr>
          <a:xfrm>
            <a:off x="742950" y="1383030"/>
            <a:ext cx="297180" cy="297180"/>
          </a:xfrm>
          <a:prstGeom prst="rect">
            <a:avLst/>
          </a:prstGeom>
        </p:spPr>
      </p:pic>
      <p:sp>
        <p:nvSpPr>
          <p:cNvPr id="6" name="Texto capa web"/>
          <p:cNvSpPr txBox="1"/>
          <p:nvPr/>
        </p:nvSpPr>
        <p:spPr>
          <a:xfrm>
            <a:off x="1325880" y="1143000"/>
            <a:ext cx="7223760" cy="777240"/>
          </a:xfrm>
          <a:prstGeom prst="rect">
            <a:avLst/>
          </a:prstGeom>
          <a:noFill/>
          <a:ln/>
        </p:spPr>
        <p:txBody>
          <a:bodyPr wrap="square" lIns="0" tIns="0" rIns="0" bIns="0" rtlCol="0" anchor="ctr"/>
          <a:lstStyle/>
          <a:p>
            <a:pPr indent="0" marL="0">
              <a:buNone/>
            </a:pPr>
            <a:r>
              <a:rPr lang="en-US" sz="1400" b="1" dirty="0">
                <a:solidFill>
                  <a:srgbClr val="1F4E79"/>
                </a:solidFill>
              </a:rPr>
              <a:t>Capa web (Apache Tomcat)</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index.jsp  |  resultado.jsp  |  encabezado.jspf y pie.jspf  |  calculadora.jsp (primera versión)</a:t>
            </a:r>
            <a:endParaRPr lang="en-US" sz="1400" dirty="0"/>
          </a:p>
        </p:txBody>
      </p:sp>
      <p:pic>
        <p:nvPicPr>
          <p:cNvPr id="7" name="Flecha a clases" descr="preencoded.png">    </p:cNvPr>
          <p:cNvPicPr>
            <a:picLocks noChangeAspect="1"/>
          </p:cNvPicPr>
          <p:nvPr/>
        </p:nvPicPr>
        <p:blipFill>
          <a:blip r:embed="rId2"/>
          <a:stretch>
            <a:fillRect/>
          </a:stretch>
        </p:blipFill>
        <p:spPr>
          <a:xfrm>
            <a:off x="4389120" y="2057400"/>
            <a:ext cx="365760" cy="365760"/>
          </a:xfrm>
          <a:prstGeom prst="rect">
            <a:avLst/>
          </a:prstGeom>
        </p:spPr>
      </p:pic>
      <p:sp>
        <p:nvSpPr>
          <p:cNvPr id="8" name="Paquete modelo"/>
          <p:cNvSpPr/>
          <p:nvPr/>
        </p:nvSpPr>
        <p:spPr>
          <a:xfrm>
            <a:off x="457200" y="2560320"/>
            <a:ext cx="2596896" cy="1920240"/>
          </a:xfrm>
          <a:prstGeom prst="roundRect">
            <a:avLst>
              <a:gd name="adj" fmla="val 3810"/>
            </a:avLst>
          </a:prstGeom>
          <a:solidFill>
            <a:srgbClr val="163A5A"/>
          </a:solidFill>
          <a:ln w="12700">
            <a:solidFill>
              <a:srgbClr val="163A5A"/>
            </a:solidFill>
            <a:prstDash val="solid"/>
          </a:ln>
        </p:spPr>
      </p:sp>
      <p:sp>
        <p:nvSpPr>
          <p:cNvPr id="9" name="Texto paquete modelo"/>
          <p:cNvSpPr txBox="1"/>
          <p:nvPr/>
        </p:nvSpPr>
        <p:spPr>
          <a:xfrm>
            <a:off x="640080" y="2697480"/>
            <a:ext cx="2286000" cy="1645920"/>
          </a:xfrm>
          <a:prstGeom prst="rect">
            <a:avLst/>
          </a:prstGeom>
          <a:noFill/>
          <a:ln/>
        </p:spPr>
        <p:txBody>
          <a:bodyPr wrap="square" lIns="0" tIns="0" rIns="0" bIns="0" rtlCol="0" anchor="t"/>
          <a:lstStyle/>
          <a:p>
            <a:pPr indent="0" marL="0">
              <a:buNone/>
            </a:pPr>
            <a:r>
              <a:rPr lang="en-US" sz="1200" b="1" dirty="0">
                <a:solidFill>
                  <a:srgbClr val="F2A900"/>
                </a:solidFill>
              </a:rPr>
              <a:t>pe.isil.poo.cotizador.modelo</a:t>
            </a:r>
            <a:endParaRPr lang="en-US" sz="1200" dirty="0"/>
          </a:p>
          <a:p>
            <a:pPr indent="0" marL="0">
              <a:buNone/>
            </a:pPr>
            <a:r>
              <a:rPr lang="en-US" sz="1400" dirty="0">
                <a:solidFill>
                  <a:srgbClr val="FFFFFF"/>
                </a:solidFill>
              </a:rPr>
              <a:t>Producto</a:t>
            </a:r>
            <a:endParaRPr lang="en-US" sz="1200" dirty="0"/>
          </a:p>
          <a:p>
            <a:pPr indent="0" marL="0">
              <a:buNone/>
            </a:pPr>
            <a:r>
              <a:rPr lang="en-US" sz="1400" dirty="0">
                <a:solidFill>
                  <a:srgbClr val="FFFFFF"/>
                </a:solidFill>
              </a:rPr>
              <a:t>Catalogo</a:t>
            </a:r>
            <a:endParaRPr lang="en-US" sz="1200" dirty="0"/>
          </a:p>
          <a:p>
            <a:pPr indent="0" marL="0">
              <a:buNone/>
            </a:pPr>
            <a:r>
              <a:rPr lang="en-US" sz="1400" dirty="0">
                <a:solidFill>
                  <a:srgbClr val="FFFFFF"/>
                </a:solidFill>
              </a:rPr>
              <a:t>Cliente</a:t>
            </a:r>
            <a:endParaRPr lang="en-US" sz="1200" dirty="0"/>
          </a:p>
          <a:p>
            <a:pPr indent="0" marL="0">
              <a:buNone/>
            </a:pPr>
            <a:r>
              <a:rPr lang="en-US" sz="1400" dirty="0">
                <a:solidFill>
                  <a:srgbClr val="FFFFFF"/>
                </a:solidFill>
              </a:rPr>
              <a:t>Cotizacion</a:t>
            </a:r>
            <a:endParaRPr lang="en-US" sz="1200" dirty="0"/>
          </a:p>
        </p:txBody>
      </p:sp>
      <p:sp>
        <p:nvSpPr>
          <p:cNvPr id="10" name="Paquete util"/>
          <p:cNvSpPr/>
          <p:nvPr/>
        </p:nvSpPr>
        <p:spPr>
          <a:xfrm>
            <a:off x="3273552" y="2560320"/>
            <a:ext cx="2596896" cy="1920240"/>
          </a:xfrm>
          <a:prstGeom prst="roundRect">
            <a:avLst>
              <a:gd name="adj" fmla="val 3810"/>
            </a:avLst>
          </a:prstGeom>
          <a:solidFill>
            <a:srgbClr val="1F4E79"/>
          </a:solidFill>
          <a:ln w="12700">
            <a:solidFill>
              <a:srgbClr val="1F4E79"/>
            </a:solidFill>
            <a:prstDash val="solid"/>
          </a:ln>
        </p:spPr>
      </p:sp>
      <p:sp>
        <p:nvSpPr>
          <p:cNvPr id="11" name="Texto paquete util"/>
          <p:cNvSpPr txBox="1"/>
          <p:nvPr/>
        </p:nvSpPr>
        <p:spPr>
          <a:xfrm>
            <a:off x="3456432" y="2697480"/>
            <a:ext cx="2286000" cy="1645920"/>
          </a:xfrm>
          <a:prstGeom prst="rect">
            <a:avLst/>
          </a:prstGeom>
          <a:noFill/>
          <a:ln/>
        </p:spPr>
        <p:txBody>
          <a:bodyPr wrap="square" lIns="0" tIns="0" rIns="0" bIns="0" rtlCol="0" anchor="t"/>
          <a:lstStyle/>
          <a:p>
            <a:pPr indent="0" marL="0">
              <a:buNone/>
            </a:pPr>
            <a:r>
              <a:rPr lang="en-US" sz="1200" b="1" dirty="0">
                <a:solidFill>
                  <a:srgbClr val="F2A900"/>
                </a:solidFill>
              </a:rPr>
              <a:t>pe.isil.poo.cotizador.util</a:t>
            </a:r>
            <a:endParaRPr lang="en-US" sz="1200" dirty="0"/>
          </a:p>
          <a:p>
            <a:pPr indent="0" marL="0">
              <a:buNone/>
            </a:pPr>
            <a:r>
              <a:rPr lang="en-US" sz="1400" dirty="0">
                <a:solidFill>
                  <a:srgbClr val="FFFFFF"/>
                </a:solidFill>
              </a:rPr>
              <a:t>ProCadenas (String)</a:t>
            </a:r>
            <a:endParaRPr lang="en-US" sz="1200" dirty="0"/>
          </a:p>
          <a:p>
            <a:pPr indent="0" marL="0">
              <a:buNone/>
            </a:pPr>
            <a:r>
              <a:rPr lang="en-US" sz="1400" dirty="0">
                <a:solidFill>
                  <a:srgbClr val="FFFFFF"/>
                </a:solidFill>
              </a:rPr>
              <a:t>ProAritmetica (Math)</a:t>
            </a:r>
            <a:endParaRPr lang="en-US" sz="1200" dirty="0"/>
          </a:p>
          <a:p>
            <a:pPr indent="0" marL="0">
              <a:buNone/>
            </a:pPr>
            <a:r>
              <a:rPr lang="en-US" sz="1400" dirty="0">
                <a:solidFill>
                  <a:srgbClr val="FFFFFF"/>
                </a:solidFill>
              </a:rPr>
              <a:t>ValidadorDatos</a:t>
            </a:r>
            <a:endParaRPr lang="en-US" sz="1200" dirty="0"/>
          </a:p>
        </p:txBody>
      </p:sp>
      <p:sp>
        <p:nvSpPr>
          <p:cNvPr id="12" name="Paquete pruebas"/>
          <p:cNvSpPr/>
          <p:nvPr/>
        </p:nvSpPr>
        <p:spPr>
          <a:xfrm>
            <a:off x="6089904" y="2560320"/>
            <a:ext cx="2596896" cy="1920240"/>
          </a:xfrm>
          <a:prstGeom prst="roundRect">
            <a:avLst>
              <a:gd name="adj" fmla="val 3810"/>
            </a:avLst>
          </a:prstGeom>
          <a:solidFill>
            <a:srgbClr val="2E7D5B"/>
          </a:solidFill>
          <a:ln w="12700">
            <a:solidFill>
              <a:srgbClr val="2E7D5B"/>
            </a:solidFill>
            <a:prstDash val="solid"/>
          </a:ln>
        </p:spPr>
      </p:sp>
      <p:sp>
        <p:nvSpPr>
          <p:cNvPr id="13" name="Texto paquete pruebas"/>
          <p:cNvSpPr txBox="1"/>
          <p:nvPr/>
        </p:nvSpPr>
        <p:spPr>
          <a:xfrm>
            <a:off x="6272784" y="2697480"/>
            <a:ext cx="2286000" cy="1645920"/>
          </a:xfrm>
          <a:prstGeom prst="rect">
            <a:avLst/>
          </a:prstGeom>
          <a:noFill/>
          <a:ln/>
        </p:spPr>
        <p:txBody>
          <a:bodyPr wrap="square" lIns="0" tIns="0" rIns="0" bIns="0" rtlCol="0" anchor="t"/>
          <a:lstStyle/>
          <a:p>
            <a:pPr indent="0" marL="0">
              <a:buNone/>
            </a:pPr>
            <a:r>
              <a:rPr lang="en-US" sz="1200" b="1" dirty="0">
                <a:solidFill>
                  <a:srgbClr val="F2A900"/>
                </a:solidFill>
              </a:rPr>
              <a:t>pe.isil.poo.cotizador.pruebas</a:t>
            </a:r>
            <a:endParaRPr lang="en-US" sz="1200" dirty="0"/>
          </a:p>
          <a:p>
            <a:pPr indent="0" marL="0">
              <a:buNone/>
            </a:pPr>
            <a:r>
              <a:rPr lang="en-US" sz="1400" dirty="0">
                <a:solidFill>
                  <a:srgbClr val="FFFFFF"/>
                </a:solidFill>
              </a:rPr>
              <a:t>PruebasCotizador</a:t>
            </a:r>
            <a:endParaRPr lang="en-US" sz="1200" dirty="0"/>
          </a:p>
          <a:p>
            <a:pPr indent="0" marL="0">
              <a:buNone/>
            </a:pPr>
            <a:r>
              <a:rPr lang="en-US" sz="1400" dirty="0">
                <a:solidFill>
                  <a:srgbClr val="FFFFFF"/>
                </a:solidFill>
              </a:rPr>
              <a:t>46 casos con main()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JSP y Tomcat: del formulario al resultado</a:t>
            </a:r>
            <a:endParaRPr lang="en-US" sz="3000" dirty="0"/>
          </a:p>
        </p:txBody>
      </p:sp>
      <p:sp>
        <p:nvSpPr>
          <p:cNvPr id="3" name="Fondo código"/>
          <p:cNvSpPr/>
          <p:nvPr/>
        </p:nvSpPr>
        <p:spPr>
          <a:xfrm>
            <a:off x="457200" y="1097280"/>
            <a:ext cx="4754880" cy="3429000"/>
          </a:xfrm>
          <a:prstGeom prst="roundRect">
            <a:avLst>
              <a:gd name="adj" fmla="val 2133"/>
            </a:avLst>
          </a:prstGeom>
          <a:solidFill>
            <a:srgbClr val="1B2430"/>
          </a:solidFill>
          <a:ln w="12700">
            <a:solidFill>
              <a:srgbClr val="1B2430"/>
            </a:solidFill>
            <a:prstDash val="solid"/>
          </a:ln>
        </p:spPr>
      </p:sp>
      <p:sp>
        <p:nvSpPr>
          <p:cNvPr id="4" name="Código resultado.jsp"/>
          <p:cNvSpPr txBox="1"/>
          <p:nvPr/>
        </p:nvSpPr>
        <p:spPr>
          <a:xfrm>
            <a:off x="640080" y="1234440"/>
            <a:ext cx="4434840" cy="3154680"/>
          </a:xfrm>
          <a:prstGeom prst="rect">
            <a:avLst/>
          </a:prstGeom>
          <a:noFill/>
          <a:ln/>
        </p:spPr>
        <p:txBody>
          <a:bodyPr wrap="square" lIns="0" tIns="0" rIns="0" bIns="0" rtlCol="0" anchor="t"/>
          <a:lstStyle/>
          <a:p>
            <a:pPr indent="0" marL="0">
              <a:buNone/>
            </a:pPr>
            <a:r>
              <a:rPr lang="en-US" sz="1200" dirty="0">
                <a:solidFill>
                  <a:srgbClr val="EEF3F8"/>
                </a:solidFill>
                <a:latin typeface="Courier New" pitchFamily="34" charset="0"/>
                <a:ea typeface="Courier New" pitchFamily="34" charset="-122"/>
                <a:cs typeface="Courier New" pitchFamily="34" charset="-120"/>
              </a:rPr>
              <a:t>// resultado.jsp</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request.setCharacterEncoding("UTF-8");</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String nombre = request.getParameter("nombre");</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List&lt;String&gt; errores =</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ValidadorDatos.validar(nombre, dni, ...);</a:t>
            </a:r>
            <a:endParaRPr lang="en-US" sz="1200" dirty="0"/>
          </a:p>
          <a:p>
            <a:pPr indent="0" marL="0">
              <a:buNone/>
            </a:pP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if (errores.isEmpty()) {</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Cliente cliente =</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new Cliente(nombre, dni, ...);</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cotizacion = new Cotizacion(cliente,</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producto, cantidad, cuotas, cupon);</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a:t>
            </a:r>
            <a:endParaRPr lang="en-US" sz="1200" dirty="0"/>
          </a:p>
        </p:txBody>
      </p:sp>
      <p:pic>
        <p:nvPicPr>
          <p:cNvPr id="5" name="Captura formulario" descr="form.png">    </p:cNvPr>
          <p:cNvPicPr>
            <a:picLocks noChangeAspect="1"/>
          </p:cNvPicPr>
          <p:nvPr/>
        </p:nvPicPr>
        <p:blipFill>
          <a:blip r:embed="rId1"/>
          <a:stretch>
            <a:fillRect/>
          </a:stretch>
        </p:blipFill>
        <p:spPr>
          <a:xfrm>
            <a:off x="5486400" y="1097280"/>
            <a:ext cx="2200275" cy="3200400"/>
          </a:xfrm>
          <a:prstGeom prst="rect">
            <a:avLst/>
          </a:prstGeom>
        </p:spPr>
      </p:pic>
      <p:sp>
        <p:nvSpPr>
          <p:cNvPr id="6" name="Pie captura"/>
          <p:cNvSpPr txBox="1"/>
          <p:nvPr/>
        </p:nvSpPr>
        <p:spPr>
          <a:xfrm>
            <a:off x="5486400" y="4343400"/>
            <a:ext cx="3200400" cy="228600"/>
          </a:xfrm>
          <a:prstGeom prst="rect">
            <a:avLst/>
          </a:prstGeom>
          <a:noFill/>
          <a:ln/>
        </p:spPr>
        <p:txBody>
          <a:bodyPr wrap="square" lIns="0" tIns="0" rIns="0" bIns="0" rtlCol="0" anchor="ctr"/>
          <a:lstStyle/>
          <a:p>
            <a:pPr indent="0" marL="0">
              <a:buNone/>
            </a:pPr>
            <a:r>
              <a:rPr lang="en-US" sz="1100" i="1" dirty="0">
                <a:solidFill>
                  <a:schemeClr val="accent5"/>
                </a:solidFill>
              </a:rPr>
              <a:t>index.jsp en el navegador</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String: validar antes de calcular</a:t>
            </a:r>
            <a:endParaRPr lang="en-US" sz="3000" dirty="0"/>
          </a:p>
        </p:txBody>
      </p:sp>
      <p:graphicFrame>
        <p:nvGraphicFramePr>
          <p:cNvPr id="6" name="Tabla validaciones"/>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914400"/>
                <a:gridCol w="2011680"/>
                <a:gridCol w="21945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Campo</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Regla</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Métodos de String</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1F4E79"/>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Nombre</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Solo letras, nombre y apellido</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charAt, split, length</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DNI</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3F8"/>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Exactamente 8 dígitos</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3F8"/>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length, charAt</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3F8"/>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Celular</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9 dígitos, empieza con 9</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replace, startsWith</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Correo</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3F8"/>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Una @, dominio y extensión</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3F8"/>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contains, indexOf, lastIndexOf</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3F8"/>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Cupón</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PROMO + 5, 10, 15 o 20</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toUpperCase, startsWith, substring</a:t>
                      </a:r>
                      <a:endParaRPr lang="en-US" sz="12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r>
            </a:tbl>
          </a:graphicData>
        </a:graphic>
      </p:graphicFrame>
      <p:pic>
        <p:nvPicPr>
          <p:cNvPr id="4" name="Captura errores" descr="val.png">    </p:cNvPr>
          <p:cNvPicPr>
            <a:picLocks noChangeAspect="1"/>
          </p:cNvPicPr>
          <p:nvPr/>
        </p:nvPicPr>
        <p:blipFill>
          <a:blip r:embed="rId1"/>
          <a:stretch>
            <a:fillRect/>
          </a:stretch>
        </p:blipFill>
        <p:spPr>
          <a:xfrm>
            <a:off x="5806440" y="1097280"/>
            <a:ext cx="2880360" cy="1487578"/>
          </a:xfrm>
          <a:prstGeom prst="rect">
            <a:avLst/>
          </a:prstGeom>
        </p:spPr>
      </p:pic>
      <p:sp>
        <p:nvSpPr>
          <p:cNvPr id="5" name="Nota errores"/>
          <p:cNvSpPr txBox="1"/>
          <p:nvPr/>
        </p:nvSpPr>
        <p:spPr>
          <a:xfrm>
            <a:off x="5806440" y="2743200"/>
            <a:ext cx="2880360" cy="1097280"/>
          </a:xfrm>
          <a:prstGeom prst="rect">
            <a:avLst/>
          </a:prstGeom>
          <a:noFill/>
          <a:ln/>
        </p:spPr>
        <p:txBody>
          <a:bodyPr wrap="square" lIns="0" tIns="0" rIns="0" bIns="0" rtlCol="0" anchor="t"/>
          <a:lstStyle/>
          <a:p>
            <a:pPr indent="0" marL="0">
              <a:buNone/>
            </a:pPr>
            <a:r>
              <a:rPr lang="en-US" sz="1300" dirty="0">
                <a:solidFill>
                  <a:schemeClr val="tx1"/>
                </a:solidFill>
              </a:rPr>
              <a:t>Si algo falla, no se calcula nada: se listan los errores y el usuario corrige sin perder lo que escribió.</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String: transformar lo que escribe el usuario</a:t>
            </a:r>
            <a:endParaRPr lang="en-US" sz="3000" dirty="0"/>
          </a:p>
        </p:txBody>
      </p:sp>
      <p:sp>
        <p:nvSpPr>
          <p:cNvPr id="3" name="Encabezado ingresado"/>
          <p:cNvSpPr txBox="1"/>
          <p:nvPr/>
        </p:nvSpPr>
        <p:spPr>
          <a:xfrm>
            <a:off x="457200" y="1051560"/>
            <a:ext cx="2651760" cy="274320"/>
          </a:xfrm>
          <a:prstGeom prst="rect">
            <a:avLst/>
          </a:prstGeom>
          <a:noFill/>
          <a:ln/>
        </p:spPr>
        <p:txBody>
          <a:bodyPr wrap="square" lIns="0" tIns="0" rIns="0" bIns="0" rtlCol="0" anchor="ctr"/>
          <a:lstStyle/>
          <a:p>
            <a:pPr indent="0" marL="0">
              <a:buNone/>
            </a:pPr>
            <a:r>
              <a:rPr lang="en-US" sz="1200" b="1" dirty="0">
                <a:solidFill>
                  <a:schemeClr val="accent5"/>
                </a:solidFill>
              </a:rPr>
              <a:t>Ingresado</a:t>
            </a:r>
            <a:endParaRPr lang="en-US" sz="1200" dirty="0"/>
          </a:p>
        </p:txBody>
      </p:sp>
      <p:sp>
        <p:nvSpPr>
          <p:cNvPr id="4" name="Encabezado resultado"/>
          <p:cNvSpPr txBox="1"/>
          <p:nvPr/>
        </p:nvSpPr>
        <p:spPr>
          <a:xfrm>
            <a:off x="3566160" y="1051560"/>
            <a:ext cx="2377440" cy="274320"/>
          </a:xfrm>
          <a:prstGeom prst="rect">
            <a:avLst/>
          </a:prstGeom>
          <a:noFill/>
          <a:ln/>
        </p:spPr>
        <p:txBody>
          <a:bodyPr wrap="square" lIns="0" tIns="0" rIns="0" bIns="0" rtlCol="0" anchor="ctr"/>
          <a:lstStyle/>
          <a:p>
            <a:pPr indent="0" marL="0">
              <a:buNone/>
            </a:pPr>
            <a:r>
              <a:rPr lang="en-US" sz="1200" b="1" dirty="0">
                <a:solidFill>
                  <a:schemeClr val="accent5"/>
                </a:solidFill>
              </a:rPr>
              <a:t>Resultado</a:t>
            </a:r>
            <a:endParaRPr lang="en-US" sz="1200" dirty="0"/>
          </a:p>
        </p:txBody>
      </p:sp>
      <p:sp>
        <p:nvSpPr>
          <p:cNvPr id="5" name="Encabezado métodos"/>
          <p:cNvSpPr txBox="1"/>
          <p:nvPr/>
        </p:nvSpPr>
        <p:spPr>
          <a:xfrm>
            <a:off x="6126480" y="1051560"/>
            <a:ext cx="2560320" cy="274320"/>
          </a:xfrm>
          <a:prstGeom prst="rect">
            <a:avLst/>
          </a:prstGeom>
          <a:noFill/>
          <a:ln/>
        </p:spPr>
        <p:txBody>
          <a:bodyPr wrap="square" lIns="0" tIns="0" rIns="0" bIns="0" rtlCol="0" anchor="ctr"/>
          <a:lstStyle/>
          <a:p>
            <a:pPr indent="0" marL="0">
              <a:buNone/>
            </a:pPr>
            <a:r>
              <a:rPr lang="en-US" sz="1200" b="1" dirty="0">
                <a:solidFill>
                  <a:schemeClr val="accent5"/>
                </a:solidFill>
              </a:rPr>
              <a:t>Métodos</a:t>
            </a:r>
            <a:endParaRPr lang="en-US" sz="1200" dirty="0"/>
          </a:p>
        </p:txBody>
      </p:sp>
      <p:sp>
        <p:nvSpPr>
          <p:cNvPr id="6" name="Antes 0"/>
          <p:cNvSpPr/>
          <p:nvPr/>
        </p:nvSpPr>
        <p:spPr>
          <a:xfrm>
            <a:off x="457200" y="1371600"/>
            <a:ext cx="2651760" cy="502920"/>
          </a:xfrm>
          <a:prstGeom prst="roundRect">
            <a:avLst>
              <a:gd name="adj" fmla="val 14545"/>
            </a:avLst>
          </a:prstGeom>
          <a:solidFill>
            <a:srgbClr val="EEF3F8"/>
          </a:solidFill>
          <a:ln w="12700">
            <a:solidFill>
              <a:srgbClr val="EEF3F8"/>
            </a:solidFill>
            <a:prstDash val="solid"/>
          </a:ln>
        </p:spPr>
      </p:sp>
      <p:sp>
        <p:nvSpPr>
          <p:cNvPr id="7" name="Texto antes 0"/>
          <p:cNvSpPr txBox="1"/>
          <p:nvPr/>
        </p:nvSpPr>
        <p:spPr>
          <a:xfrm>
            <a:off x="548640" y="1371600"/>
            <a:ext cx="2468880" cy="502920"/>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  aNGEL   fernando reyes</a:t>
            </a:r>
            <a:endParaRPr lang="en-US" sz="1200" dirty="0"/>
          </a:p>
        </p:txBody>
      </p:sp>
      <p:pic>
        <p:nvPicPr>
          <p:cNvPr id="8" name="Flecha 0" descr="preencoded.png">    </p:cNvPr>
          <p:cNvPicPr>
            <a:picLocks noChangeAspect="1"/>
          </p:cNvPicPr>
          <p:nvPr/>
        </p:nvPicPr>
        <p:blipFill>
          <a:blip r:embed="rId1"/>
          <a:stretch>
            <a:fillRect/>
          </a:stretch>
        </p:blipFill>
        <p:spPr>
          <a:xfrm>
            <a:off x="3200400" y="1508760"/>
            <a:ext cx="256032" cy="228600"/>
          </a:xfrm>
          <a:prstGeom prst="rect">
            <a:avLst/>
          </a:prstGeom>
        </p:spPr>
      </p:pic>
      <p:sp>
        <p:nvSpPr>
          <p:cNvPr id="9" name="Después 0"/>
          <p:cNvSpPr/>
          <p:nvPr/>
        </p:nvSpPr>
        <p:spPr>
          <a:xfrm>
            <a:off x="3566160" y="1371600"/>
            <a:ext cx="2377440" cy="502920"/>
          </a:xfrm>
          <a:prstGeom prst="roundRect">
            <a:avLst>
              <a:gd name="adj" fmla="val 14545"/>
            </a:avLst>
          </a:prstGeom>
          <a:solidFill>
            <a:srgbClr val="1F4E79"/>
          </a:solidFill>
          <a:ln w="12700">
            <a:solidFill>
              <a:srgbClr val="1F4E79"/>
            </a:solidFill>
            <a:prstDash val="solid"/>
          </a:ln>
        </p:spPr>
      </p:sp>
      <p:sp>
        <p:nvSpPr>
          <p:cNvPr id="10" name="Texto después 0"/>
          <p:cNvSpPr txBox="1"/>
          <p:nvPr/>
        </p:nvSpPr>
        <p:spPr>
          <a:xfrm>
            <a:off x="3657600" y="1371600"/>
            <a:ext cx="2194560" cy="502920"/>
          </a:xfrm>
          <a:prstGeom prst="rect">
            <a:avLst/>
          </a:prstGeom>
          <a:noFill/>
          <a:ln/>
        </p:spPr>
        <p:txBody>
          <a:bodyPr wrap="square" lIns="0" tIns="0" rIns="0" bIns="0" rtlCol="0" anchor="ctr"/>
          <a:lstStyle/>
          <a:p>
            <a:pPr indent="0" marL="0">
              <a:buNone/>
            </a:pPr>
            <a:r>
              <a:rPr lang="en-US" sz="1300" b="1" dirty="0">
                <a:solidFill>
                  <a:srgbClr val="FFFFFF"/>
                </a:solidFill>
              </a:rPr>
              <a:t>Angel Fernando Reyes</a:t>
            </a:r>
            <a:endParaRPr lang="en-US" sz="1300" dirty="0"/>
          </a:p>
        </p:txBody>
      </p:sp>
      <p:sp>
        <p:nvSpPr>
          <p:cNvPr id="11" name="Métodos 0"/>
          <p:cNvSpPr txBox="1"/>
          <p:nvPr/>
        </p:nvSpPr>
        <p:spPr>
          <a:xfrm>
            <a:off x="6126480" y="1371600"/>
            <a:ext cx="2560320" cy="502920"/>
          </a:xfrm>
          <a:prstGeom prst="rect">
            <a:avLst/>
          </a:prstGeom>
          <a:noFill/>
          <a:ln/>
        </p:spPr>
        <p:txBody>
          <a:bodyPr wrap="square" lIns="0" tIns="0" rIns="0" bIns="0" rtlCol="0" anchor="ctr"/>
          <a:lstStyle/>
          <a:p>
            <a:pPr indent="0" marL="0">
              <a:buNone/>
            </a:pPr>
            <a:r>
              <a:rPr lang="en-US" sz="1200" dirty="0">
                <a:solidFill>
                  <a:srgbClr val="1B2430"/>
                </a:solidFill>
              </a:rPr>
              <a:t>trim, split, substring, toUpperCase, toLowerCase</a:t>
            </a:r>
            <a:endParaRPr lang="en-US" sz="1200" dirty="0"/>
          </a:p>
        </p:txBody>
      </p:sp>
      <p:sp>
        <p:nvSpPr>
          <p:cNvPr id="12" name="Antes 1"/>
          <p:cNvSpPr/>
          <p:nvPr/>
        </p:nvSpPr>
        <p:spPr>
          <a:xfrm>
            <a:off x="457200" y="2011680"/>
            <a:ext cx="2651760" cy="502920"/>
          </a:xfrm>
          <a:prstGeom prst="roundRect">
            <a:avLst>
              <a:gd name="adj" fmla="val 14545"/>
            </a:avLst>
          </a:prstGeom>
          <a:solidFill>
            <a:srgbClr val="EEF3F8"/>
          </a:solidFill>
          <a:ln w="12700">
            <a:solidFill>
              <a:srgbClr val="EEF3F8"/>
            </a:solidFill>
            <a:prstDash val="solid"/>
          </a:ln>
        </p:spPr>
      </p:sp>
      <p:sp>
        <p:nvSpPr>
          <p:cNvPr id="13" name="Texto antes 1"/>
          <p:cNvSpPr txBox="1"/>
          <p:nvPr/>
        </p:nvSpPr>
        <p:spPr>
          <a:xfrm>
            <a:off x="548640" y="2011680"/>
            <a:ext cx="2468880" cy="502920"/>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Angel.Reyes@Gmail.com</a:t>
            </a:r>
            <a:endParaRPr lang="en-US" sz="1200" dirty="0"/>
          </a:p>
        </p:txBody>
      </p:sp>
      <p:pic>
        <p:nvPicPr>
          <p:cNvPr id="14" name="Flecha 1" descr="preencoded.png">    </p:cNvPr>
          <p:cNvPicPr>
            <a:picLocks noChangeAspect="1"/>
          </p:cNvPicPr>
          <p:nvPr/>
        </p:nvPicPr>
        <p:blipFill>
          <a:blip r:embed="rId2"/>
          <a:stretch>
            <a:fillRect/>
          </a:stretch>
        </p:blipFill>
        <p:spPr>
          <a:xfrm>
            <a:off x="3200400" y="2148840"/>
            <a:ext cx="256032" cy="228600"/>
          </a:xfrm>
          <a:prstGeom prst="rect">
            <a:avLst/>
          </a:prstGeom>
        </p:spPr>
      </p:pic>
      <p:sp>
        <p:nvSpPr>
          <p:cNvPr id="15" name="Después 1"/>
          <p:cNvSpPr/>
          <p:nvPr/>
        </p:nvSpPr>
        <p:spPr>
          <a:xfrm>
            <a:off x="3566160" y="2011680"/>
            <a:ext cx="2377440" cy="502920"/>
          </a:xfrm>
          <a:prstGeom prst="roundRect">
            <a:avLst>
              <a:gd name="adj" fmla="val 14545"/>
            </a:avLst>
          </a:prstGeom>
          <a:solidFill>
            <a:srgbClr val="1F4E79"/>
          </a:solidFill>
          <a:ln w="12700">
            <a:solidFill>
              <a:srgbClr val="1F4E79"/>
            </a:solidFill>
            <a:prstDash val="solid"/>
          </a:ln>
        </p:spPr>
      </p:sp>
      <p:sp>
        <p:nvSpPr>
          <p:cNvPr id="16" name="Texto después 1"/>
          <p:cNvSpPr txBox="1"/>
          <p:nvPr/>
        </p:nvSpPr>
        <p:spPr>
          <a:xfrm>
            <a:off x="3657600" y="2011680"/>
            <a:ext cx="2194560" cy="502920"/>
          </a:xfrm>
          <a:prstGeom prst="rect">
            <a:avLst/>
          </a:prstGeom>
          <a:noFill/>
          <a:ln/>
        </p:spPr>
        <p:txBody>
          <a:bodyPr wrap="square" lIns="0" tIns="0" rIns="0" bIns="0" rtlCol="0" anchor="ctr"/>
          <a:lstStyle/>
          <a:p>
            <a:pPr indent="0" marL="0">
              <a:buNone/>
            </a:pPr>
            <a:r>
              <a:rPr lang="en-US" sz="1300" b="1" dirty="0">
                <a:solidFill>
                  <a:srgbClr val="FFFFFF"/>
                </a:solidFill>
              </a:rPr>
              <a:t>an*********@gmail.com</a:t>
            </a:r>
            <a:endParaRPr lang="en-US" sz="1300" dirty="0"/>
          </a:p>
        </p:txBody>
      </p:sp>
      <p:sp>
        <p:nvSpPr>
          <p:cNvPr id="17" name="Métodos 1"/>
          <p:cNvSpPr txBox="1"/>
          <p:nvPr/>
        </p:nvSpPr>
        <p:spPr>
          <a:xfrm>
            <a:off x="6126480" y="2011680"/>
            <a:ext cx="2560320" cy="502920"/>
          </a:xfrm>
          <a:prstGeom prst="rect">
            <a:avLst/>
          </a:prstGeom>
          <a:noFill/>
          <a:ln/>
        </p:spPr>
        <p:txBody>
          <a:bodyPr wrap="square" lIns="0" tIns="0" rIns="0" bIns="0" rtlCol="0" anchor="ctr"/>
          <a:lstStyle/>
          <a:p>
            <a:pPr indent="0" marL="0">
              <a:buNone/>
            </a:pPr>
            <a:r>
              <a:rPr lang="en-US" sz="1200" dirty="0">
                <a:solidFill>
                  <a:srgbClr val="1B2430"/>
                </a:solidFill>
              </a:rPr>
              <a:t>toLowerCase, indexOf, substring, repeat</a:t>
            </a:r>
            <a:endParaRPr lang="en-US" sz="1200" dirty="0"/>
          </a:p>
        </p:txBody>
      </p:sp>
      <p:sp>
        <p:nvSpPr>
          <p:cNvPr id="18" name="Antes 2"/>
          <p:cNvSpPr/>
          <p:nvPr/>
        </p:nvSpPr>
        <p:spPr>
          <a:xfrm>
            <a:off x="457200" y="2651760"/>
            <a:ext cx="2651760" cy="502920"/>
          </a:xfrm>
          <a:prstGeom prst="roundRect">
            <a:avLst>
              <a:gd name="adj" fmla="val 14545"/>
            </a:avLst>
          </a:prstGeom>
          <a:solidFill>
            <a:srgbClr val="EEF3F8"/>
          </a:solidFill>
          <a:ln w="12700">
            <a:solidFill>
              <a:srgbClr val="EEF3F8"/>
            </a:solidFill>
            <a:prstDash val="solid"/>
          </a:ln>
        </p:spPr>
      </p:sp>
      <p:sp>
        <p:nvSpPr>
          <p:cNvPr id="19" name="Texto antes 2"/>
          <p:cNvSpPr txBox="1"/>
          <p:nvPr/>
        </p:nvSpPr>
        <p:spPr>
          <a:xfrm>
            <a:off x="548640" y="2651760"/>
            <a:ext cx="2468880" cy="502920"/>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987654321</a:t>
            </a:r>
            <a:endParaRPr lang="en-US" sz="1200" dirty="0"/>
          </a:p>
        </p:txBody>
      </p:sp>
      <p:pic>
        <p:nvPicPr>
          <p:cNvPr id="20" name="Flecha 2" descr="preencoded.png">    </p:cNvPr>
          <p:cNvPicPr>
            <a:picLocks noChangeAspect="1"/>
          </p:cNvPicPr>
          <p:nvPr/>
        </p:nvPicPr>
        <p:blipFill>
          <a:blip r:embed="rId3"/>
          <a:stretch>
            <a:fillRect/>
          </a:stretch>
        </p:blipFill>
        <p:spPr>
          <a:xfrm>
            <a:off x="3200400" y="2788920"/>
            <a:ext cx="256032" cy="228600"/>
          </a:xfrm>
          <a:prstGeom prst="rect">
            <a:avLst/>
          </a:prstGeom>
        </p:spPr>
      </p:pic>
      <p:sp>
        <p:nvSpPr>
          <p:cNvPr id="21" name="Después 2"/>
          <p:cNvSpPr/>
          <p:nvPr/>
        </p:nvSpPr>
        <p:spPr>
          <a:xfrm>
            <a:off x="3566160" y="2651760"/>
            <a:ext cx="2377440" cy="502920"/>
          </a:xfrm>
          <a:prstGeom prst="roundRect">
            <a:avLst>
              <a:gd name="adj" fmla="val 14545"/>
            </a:avLst>
          </a:prstGeom>
          <a:solidFill>
            <a:srgbClr val="1F4E79"/>
          </a:solidFill>
          <a:ln w="12700">
            <a:solidFill>
              <a:srgbClr val="1F4E79"/>
            </a:solidFill>
            <a:prstDash val="solid"/>
          </a:ln>
        </p:spPr>
      </p:sp>
      <p:sp>
        <p:nvSpPr>
          <p:cNvPr id="22" name="Texto después 2"/>
          <p:cNvSpPr txBox="1"/>
          <p:nvPr/>
        </p:nvSpPr>
        <p:spPr>
          <a:xfrm>
            <a:off x="3657600" y="2651760"/>
            <a:ext cx="2194560" cy="502920"/>
          </a:xfrm>
          <a:prstGeom prst="rect">
            <a:avLst/>
          </a:prstGeom>
          <a:noFill/>
          <a:ln/>
        </p:spPr>
        <p:txBody>
          <a:bodyPr wrap="square" lIns="0" tIns="0" rIns="0" bIns="0" rtlCol="0" anchor="ctr"/>
          <a:lstStyle/>
          <a:p>
            <a:pPr indent="0" marL="0">
              <a:buNone/>
            </a:pPr>
            <a:r>
              <a:rPr lang="en-US" sz="1300" b="1" dirty="0">
                <a:solidFill>
                  <a:srgbClr val="FFFFFF"/>
                </a:solidFill>
              </a:rPr>
              <a:t>987 654 321</a:t>
            </a:r>
            <a:endParaRPr lang="en-US" sz="1300" dirty="0"/>
          </a:p>
        </p:txBody>
      </p:sp>
      <p:sp>
        <p:nvSpPr>
          <p:cNvPr id="23" name="Métodos 2"/>
          <p:cNvSpPr txBox="1"/>
          <p:nvPr/>
        </p:nvSpPr>
        <p:spPr>
          <a:xfrm>
            <a:off x="6126480" y="2651760"/>
            <a:ext cx="2560320" cy="502920"/>
          </a:xfrm>
          <a:prstGeom prst="rect">
            <a:avLst/>
          </a:prstGeom>
          <a:noFill/>
          <a:ln/>
        </p:spPr>
        <p:txBody>
          <a:bodyPr wrap="square" lIns="0" tIns="0" rIns="0" bIns="0" rtlCol="0" anchor="ctr"/>
          <a:lstStyle/>
          <a:p>
            <a:pPr indent="0" marL="0">
              <a:buNone/>
            </a:pPr>
            <a:r>
              <a:rPr lang="en-US" sz="1200" dirty="0">
                <a:solidFill>
                  <a:srgbClr val="1B2430"/>
                </a:solidFill>
              </a:rPr>
              <a:t>substring</a:t>
            </a:r>
            <a:endParaRPr lang="en-US" sz="1200" dirty="0"/>
          </a:p>
        </p:txBody>
      </p:sp>
      <p:sp>
        <p:nvSpPr>
          <p:cNvPr id="24" name="Antes 3"/>
          <p:cNvSpPr/>
          <p:nvPr/>
        </p:nvSpPr>
        <p:spPr>
          <a:xfrm>
            <a:off x="457200" y="3291840"/>
            <a:ext cx="2651760" cy="502920"/>
          </a:xfrm>
          <a:prstGeom prst="roundRect">
            <a:avLst>
              <a:gd name="adj" fmla="val 14545"/>
            </a:avLst>
          </a:prstGeom>
          <a:solidFill>
            <a:srgbClr val="EEF3F8"/>
          </a:solidFill>
          <a:ln w="12700">
            <a:solidFill>
              <a:srgbClr val="EEF3F8"/>
            </a:solidFill>
            <a:prstDash val="solid"/>
          </a:ln>
        </p:spPr>
      </p:sp>
      <p:sp>
        <p:nvSpPr>
          <p:cNvPr id="25" name="Texto antes 3"/>
          <p:cNvSpPr txBox="1"/>
          <p:nvPr/>
        </p:nvSpPr>
        <p:spPr>
          <a:xfrm>
            <a:off x="548640" y="3291840"/>
            <a:ext cx="2468880" cy="502920"/>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Angel Fernando Reyes</a:t>
            </a:r>
            <a:endParaRPr lang="en-US" sz="1200" dirty="0"/>
          </a:p>
        </p:txBody>
      </p:sp>
      <p:pic>
        <p:nvPicPr>
          <p:cNvPr id="26" name="Flecha 3" descr="preencoded.png">    </p:cNvPr>
          <p:cNvPicPr>
            <a:picLocks noChangeAspect="1"/>
          </p:cNvPicPr>
          <p:nvPr/>
        </p:nvPicPr>
        <p:blipFill>
          <a:blip r:embed="rId4"/>
          <a:stretch>
            <a:fillRect/>
          </a:stretch>
        </p:blipFill>
        <p:spPr>
          <a:xfrm>
            <a:off x="3200400" y="3429000"/>
            <a:ext cx="256032" cy="228600"/>
          </a:xfrm>
          <a:prstGeom prst="rect">
            <a:avLst/>
          </a:prstGeom>
        </p:spPr>
      </p:pic>
      <p:sp>
        <p:nvSpPr>
          <p:cNvPr id="27" name="Después 3"/>
          <p:cNvSpPr/>
          <p:nvPr/>
        </p:nvSpPr>
        <p:spPr>
          <a:xfrm>
            <a:off x="3566160" y="3291840"/>
            <a:ext cx="2377440" cy="502920"/>
          </a:xfrm>
          <a:prstGeom prst="roundRect">
            <a:avLst>
              <a:gd name="adj" fmla="val 14545"/>
            </a:avLst>
          </a:prstGeom>
          <a:solidFill>
            <a:srgbClr val="1F4E79"/>
          </a:solidFill>
          <a:ln w="12700">
            <a:solidFill>
              <a:srgbClr val="1F4E79"/>
            </a:solidFill>
            <a:prstDash val="solid"/>
          </a:ln>
        </p:spPr>
      </p:sp>
      <p:sp>
        <p:nvSpPr>
          <p:cNvPr id="28" name="Texto después 3"/>
          <p:cNvSpPr txBox="1"/>
          <p:nvPr/>
        </p:nvSpPr>
        <p:spPr>
          <a:xfrm>
            <a:off x="3657600" y="3291840"/>
            <a:ext cx="2194560" cy="502920"/>
          </a:xfrm>
          <a:prstGeom prst="rect">
            <a:avLst/>
          </a:prstGeom>
          <a:noFill/>
          <a:ln/>
        </p:spPr>
        <p:txBody>
          <a:bodyPr wrap="square" lIns="0" tIns="0" rIns="0" bIns="0" rtlCol="0" anchor="ctr"/>
          <a:lstStyle/>
          <a:p>
            <a:pPr indent="0" marL="0">
              <a:buNone/>
            </a:pPr>
            <a:r>
              <a:rPr lang="en-US" sz="1300" b="1" dirty="0">
                <a:solidFill>
                  <a:srgbClr val="FFFFFF"/>
                </a:solidFill>
              </a:rPr>
              <a:t>AFR</a:t>
            </a:r>
            <a:endParaRPr lang="en-US" sz="1300" dirty="0"/>
          </a:p>
        </p:txBody>
      </p:sp>
      <p:sp>
        <p:nvSpPr>
          <p:cNvPr id="29" name="Métodos 3"/>
          <p:cNvSpPr txBox="1"/>
          <p:nvPr/>
        </p:nvSpPr>
        <p:spPr>
          <a:xfrm>
            <a:off x="6126480" y="3291840"/>
            <a:ext cx="2560320" cy="502920"/>
          </a:xfrm>
          <a:prstGeom prst="rect">
            <a:avLst/>
          </a:prstGeom>
          <a:noFill/>
          <a:ln/>
        </p:spPr>
        <p:txBody>
          <a:bodyPr wrap="square" lIns="0" tIns="0" rIns="0" bIns="0" rtlCol="0" anchor="ctr"/>
          <a:lstStyle/>
          <a:p>
            <a:pPr indent="0" marL="0">
              <a:buNone/>
            </a:pPr>
            <a:r>
              <a:rPr lang="en-US" sz="1200" dirty="0">
                <a:solidFill>
                  <a:srgbClr val="1B2430"/>
                </a:solidFill>
              </a:rPr>
              <a:t>split, charAt, toUpperCase</a:t>
            </a:r>
            <a:endParaRPr lang="en-US" sz="1200" dirty="0"/>
          </a:p>
        </p:txBody>
      </p:sp>
      <p:sp>
        <p:nvSpPr>
          <p:cNvPr id="30" name="Antes 4"/>
          <p:cNvSpPr/>
          <p:nvPr/>
        </p:nvSpPr>
        <p:spPr>
          <a:xfrm>
            <a:off x="457200" y="3931920"/>
            <a:ext cx="2651760" cy="502920"/>
          </a:xfrm>
          <a:prstGeom prst="roundRect">
            <a:avLst>
              <a:gd name="adj" fmla="val 14545"/>
            </a:avLst>
          </a:prstGeom>
          <a:solidFill>
            <a:srgbClr val="EEF3F8"/>
          </a:solidFill>
          <a:ln w="12700">
            <a:solidFill>
              <a:srgbClr val="EEF3F8"/>
            </a:solidFill>
            <a:prstDash val="solid"/>
          </a:ln>
        </p:spPr>
      </p:sp>
      <p:sp>
        <p:nvSpPr>
          <p:cNvPr id="31" name="Texto antes 4"/>
          <p:cNvSpPr txBox="1"/>
          <p:nvPr/>
        </p:nvSpPr>
        <p:spPr>
          <a:xfrm>
            <a:off x="548640" y="3931920"/>
            <a:ext cx="2468880" cy="502920"/>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&lt;script&gt;</a:t>
            </a:r>
            <a:endParaRPr lang="en-US" sz="1200" dirty="0"/>
          </a:p>
        </p:txBody>
      </p:sp>
      <p:pic>
        <p:nvPicPr>
          <p:cNvPr id="32" name="Flecha 4" descr="preencoded.png">    </p:cNvPr>
          <p:cNvPicPr>
            <a:picLocks noChangeAspect="1"/>
          </p:cNvPicPr>
          <p:nvPr/>
        </p:nvPicPr>
        <p:blipFill>
          <a:blip r:embed="rId5"/>
          <a:stretch>
            <a:fillRect/>
          </a:stretch>
        </p:blipFill>
        <p:spPr>
          <a:xfrm>
            <a:off x="3200400" y="4069080"/>
            <a:ext cx="256032" cy="228600"/>
          </a:xfrm>
          <a:prstGeom prst="rect">
            <a:avLst/>
          </a:prstGeom>
        </p:spPr>
      </p:pic>
      <p:sp>
        <p:nvSpPr>
          <p:cNvPr id="33" name="Después 4"/>
          <p:cNvSpPr/>
          <p:nvPr/>
        </p:nvSpPr>
        <p:spPr>
          <a:xfrm>
            <a:off x="3566160" y="3931920"/>
            <a:ext cx="2377440" cy="502920"/>
          </a:xfrm>
          <a:prstGeom prst="roundRect">
            <a:avLst>
              <a:gd name="adj" fmla="val 14545"/>
            </a:avLst>
          </a:prstGeom>
          <a:solidFill>
            <a:srgbClr val="1F4E79"/>
          </a:solidFill>
          <a:ln w="12700">
            <a:solidFill>
              <a:srgbClr val="1F4E79"/>
            </a:solidFill>
            <a:prstDash val="solid"/>
          </a:ln>
        </p:spPr>
      </p:sp>
      <p:sp>
        <p:nvSpPr>
          <p:cNvPr id="34" name="Texto después 4"/>
          <p:cNvSpPr txBox="1"/>
          <p:nvPr/>
        </p:nvSpPr>
        <p:spPr>
          <a:xfrm>
            <a:off x="3657600" y="3931920"/>
            <a:ext cx="2194560" cy="502920"/>
          </a:xfrm>
          <a:prstGeom prst="rect">
            <a:avLst/>
          </a:prstGeom>
          <a:noFill/>
          <a:ln/>
        </p:spPr>
        <p:txBody>
          <a:bodyPr wrap="square" lIns="0" tIns="0" rIns="0" bIns="0" rtlCol="0" anchor="ctr"/>
          <a:lstStyle/>
          <a:p>
            <a:pPr indent="0" marL="0">
              <a:buNone/>
            </a:pPr>
            <a:r>
              <a:rPr lang="en-US" sz="1300" b="1" dirty="0">
                <a:solidFill>
                  <a:srgbClr val="FFFFFF"/>
                </a:solidFill>
              </a:rPr>
              <a:t>&amp;lt;script&amp;gt;</a:t>
            </a:r>
            <a:endParaRPr lang="en-US" sz="1300" dirty="0"/>
          </a:p>
        </p:txBody>
      </p:sp>
      <p:sp>
        <p:nvSpPr>
          <p:cNvPr id="35" name="Métodos 4"/>
          <p:cNvSpPr txBox="1"/>
          <p:nvPr/>
        </p:nvSpPr>
        <p:spPr>
          <a:xfrm>
            <a:off x="6126480" y="3931920"/>
            <a:ext cx="2560320" cy="502920"/>
          </a:xfrm>
          <a:prstGeom prst="rect">
            <a:avLst/>
          </a:prstGeom>
          <a:noFill/>
          <a:ln/>
        </p:spPr>
        <p:txBody>
          <a:bodyPr wrap="square" lIns="0" tIns="0" rIns="0" bIns="0" rtlCol="0" anchor="ctr"/>
          <a:lstStyle/>
          <a:p>
            <a:pPr indent="0" marL="0">
              <a:buNone/>
            </a:pPr>
            <a:r>
              <a:rPr lang="en-US" sz="1200" dirty="0">
                <a:solidFill>
                  <a:srgbClr val="1B2430"/>
                </a:solidFill>
              </a:rPr>
              <a:t>replace (seguridad)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Math: del subtotal a la cuota mensual</a:t>
            </a:r>
            <a:endParaRPr lang="en-US" sz="3000" dirty="0"/>
          </a:p>
        </p:txBody>
      </p:sp>
      <p:sp>
        <p:nvSpPr>
          <p:cNvPr id="3" name="Paso Math Subtotal"/>
          <p:cNvSpPr/>
          <p:nvPr/>
        </p:nvSpPr>
        <p:spPr>
          <a:xfrm>
            <a:off x="457200" y="1143000"/>
            <a:ext cx="1463040" cy="1280160"/>
          </a:xfrm>
          <a:prstGeom prst="roundRect">
            <a:avLst>
              <a:gd name="adj" fmla="val 5714"/>
            </a:avLst>
          </a:prstGeom>
          <a:solidFill>
            <a:srgbClr val="EEF3F8"/>
          </a:solidFill>
          <a:ln w="12700">
            <a:solidFill>
              <a:srgbClr val="EEF3F8"/>
            </a:solidFill>
            <a:prstDash val="solid"/>
          </a:ln>
        </p:spPr>
      </p:sp>
      <p:sp>
        <p:nvSpPr>
          <p:cNvPr id="4" name="Texto paso Math Subtotal"/>
          <p:cNvSpPr txBox="1"/>
          <p:nvPr/>
        </p:nvSpPr>
        <p:spPr>
          <a:xfrm>
            <a:off x="548640" y="1234440"/>
            <a:ext cx="1280160" cy="1097280"/>
          </a:xfrm>
          <a:prstGeom prst="rect">
            <a:avLst/>
          </a:prstGeom>
          <a:noFill/>
          <a:ln/>
        </p:spPr>
        <p:txBody>
          <a:bodyPr wrap="square" lIns="0" tIns="0" rIns="0" bIns="0" rtlCol="0" anchor="t"/>
          <a:lstStyle/>
          <a:p>
            <a:pPr indent="0" marL="0">
              <a:spcAft>
                <a:spcPts val="600"/>
              </a:spcAft>
              <a:buNone/>
            </a:pPr>
            <a:r>
              <a:rPr lang="en-US" sz="1500" b="1" dirty="0">
                <a:solidFill>
                  <a:srgbClr val="163A5A"/>
                </a:solidFill>
              </a:rPr>
              <a:t>Subtotal</a:t>
            </a:r>
            <a:endParaRPr lang="en-US" sz="1500" dirty="0"/>
          </a:p>
          <a:p>
            <a:pPr indent="0" marL="0">
              <a:spcAft>
                <a:spcPts val="600"/>
              </a:spcAft>
              <a:buNone/>
            </a:pPr>
            <a:r>
              <a:rPr lang="en-US" sz="1200" dirty="0">
                <a:solidFill>
                  <a:srgbClr val="5B6576"/>
                </a:solidFill>
              </a:rPr>
              <a:t>precio × cantidad</a:t>
            </a:r>
            <a:endParaRPr lang="en-US" sz="1500" dirty="0"/>
          </a:p>
          <a:p>
            <a:pPr indent="0" marL="0">
              <a:spcAft>
                <a:spcPts val="600"/>
              </a:spcAft>
              <a:buNone/>
            </a:pPr>
            <a:r>
              <a:rPr lang="en-US" sz="1200" b="1" dirty="0">
                <a:solidFill>
                  <a:srgbClr val="F2A900"/>
                </a:solidFill>
              </a:rPr>
              <a:t>Math.round</a:t>
            </a:r>
            <a:endParaRPr lang="en-US" sz="1500" dirty="0"/>
          </a:p>
        </p:txBody>
      </p:sp>
      <p:pic>
        <p:nvPicPr>
          <p:cNvPr id="5" name="Flecha Math 0" descr="preencoded.png">    </p:cNvPr>
          <p:cNvPicPr>
            <a:picLocks noChangeAspect="1"/>
          </p:cNvPicPr>
          <p:nvPr/>
        </p:nvPicPr>
        <p:blipFill>
          <a:blip r:embed="rId1"/>
          <a:stretch>
            <a:fillRect/>
          </a:stretch>
        </p:blipFill>
        <p:spPr>
          <a:xfrm>
            <a:off x="1947672" y="1691640"/>
            <a:ext cx="182880" cy="182880"/>
          </a:xfrm>
          <a:prstGeom prst="rect">
            <a:avLst/>
          </a:prstGeom>
        </p:spPr>
      </p:pic>
      <p:sp>
        <p:nvSpPr>
          <p:cNvPr id="6" name="Paso Math Descuento"/>
          <p:cNvSpPr/>
          <p:nvPr/>
        </p:nvSpPr>
        <p:spPr>
          <a:xfrm>
            <a:off x="2157984" y="1143000"/>
            <a:ext cx="1463040" cy="1280160"/>
          </a:xfrm>
          <a:prstGeom prst="roundRect">
            <a:avLst>
              <a:gd name="adj" fmla="val 5714"/>
            </a:avLst>
          </a:prstGeom>
          <a:solidFill>
            <a:srgbClr val="EEF3F8"/>
          </a:solidFill>
          <a:ln w="12700">
            <a:solidFill>
              <a:srgbClr val="EEF3F8"/>
            </a:solidFill>
            <a:prstDash val="solid"/>
          </a:ln>
        </p:spPr>
      </p:sp>
      <p:sp>
        <p:nvSpPr>
          <p:cNvPr id="7" name="Texto paso Math Descuento"/>
          <p:cNvSpPr txBox="1"/>
          <p:nvPr/>
        </p:nvSpPr>
        <p:spPr>
          <a:xfrm>
            <a:off x="2249424" y="1234440"/>
            <a:ext cx="1280160" cy="1097280"/>
          </a:xfrm>
          <a:prstGeom prst="rect">
            <a:avLst/>
          </a:prstGeom>
          <a:noFill/>
          <a:ln/>
        </p:spPr>
        <p:txBody>
          <a:bodyPr wrap="square" lIns="0" tIns="0" rIns="0" bIns="0" rtlCol="0" anchor="t"/>
          <a:lstStyle/>
          <a:p>
            <a:pPr indent="0" marL="0">
              <a:spcAft>
                <a:spcPts val="600"/>
              </a:spcAft>
              <a:buNone/>
            </a:pPr>
            <a:r>
              <a:rPr lang="en-US" sz="1500" b="1" dirty="0">
                <a:solidFill>
                  <a:srgbClr val="163A5A"/>
                </a:solidFill>
              </a:rPr>
              <a:t>Descuento</a:t>
            </a:r>
            <a:endParaRPr lang="en-US" sz="1500" dirty="0"/>
          </a:p>
          <a:p>
            <a:pPr indent="0" marL="0">
              <a:spcAft>
                <a:spcPts val="600"/>
              </a:spcAft>
              <a:buNone/>
            </a:pPr>
            <a:r>
              <a:rPr lang="en-US" sz="1200" dirty="0">
                <a:solidFill>
                  <a:srgbClr val="5B6576"/>
                </a:solidFill>
              </a:rPr>
              <a:t>volumen + cupón, tope 20 %</a:t>
            </a:r>
            <a:endParaRPr lang="en-US" sz="1500" dirty="0"/>
          </a:p>
          <a:p>
            <a:pPr indent="0" marL="0">
              <a:spcAft>
                <a:spcPts val="600"/>
              </a:spcAft>
              <a:buNone/>
            </a:pPr>
            <a:r>
              <a:rPr lang="en-US" sz="1200" b="1" dirty="0">
                <a:solidFill>
                  <a:srgbClr val="F2A900"/>
                </a:solidFill>
              </a:rPr>
              <a:t>Math.min / max</a:t>
            </a:r>
            <a:endParaRPr lang="en-US" sz="1500" dirty="0"/>
          </a:p>
        </p:txBody>
      </p:sp>
      <p:pic>
        <p:nvPicPr>
          <p:cNvPr id="8" name="Flecha Math 1" descr="preencoded.png">    </p:cNvPr>
          <p:cNvPicPr>
            <a:picLocks noChangeAspect="1"/>
          </p:cNvPicPr>
          <p:nvPr/>
        </p:nvPicPr>
        <p:blipFill>
          <a:blip r:embed="rId2"/>
          <a:stretch>
            <a:fillRect/>
          </a:stretch>
        </p:blipFill>
        <p:spPr>
          <a:xfrm>
            <a:off x="3648456" y="1691640"/>
            <a:ext cx="182880" cy="182880"/>
          </a:xfrm>
          <a:prstGeom prst="rect">
            <a:avLst/>
          </a:prstGeom>
        </p:spPr>
      </p:pic>
      <p:sp>
        <p:nvSpPr>
          <p:cNvPr id="9" name="Paso Math IGV"/>
          <p:cNvSpPr/>
          <p:nvPr/>
        </p:nvSpPr>
        <p:spPr>
          <a:xfrm>
            <a:off x="3858768" y="1143000"/>
            <a:ext cx="1463040" cy="1280160"/>
          </a:xfrm>
          <a:prstGeom prst="roundRect">
            <a:avLst>
              <a:gd name="adj" fmla="val 5714"/>
            </a:avLst>
          </a:prstGeom>
          <a:solidFill>
            <a:srgbClr val="EEF3F8"/>
          </a:solidFill>
          <a:ln w="12700">
            <a:solidFill>
              <a:srgbClr val="EEF3F8"/>
            </a:solidFill>
            <a:prstDash val="solid"/>
          </a:ln>
        </p:spPr>
      </p:sp>
      <p:sp>
        <p:nvSpPr>
          <p:cNvPr id="10" name="Texto paso Math IGV"/>
          <p:cNvSpPr txBox="1"/>
          <p:nvPr/>
        </p:nvSpPr>
        <p:spPr>
          <a:xfrm>
            <a:off x="3950208" y="1234440"/>
            <a:ext cx="1280160" cy="1097280"/>
          </a:xfrm>
          <a:prstGeom prst="rect">
            <a:avLst/>
          </a:prstGeom>
          <a:noFill/>
          <a:ln/>
        </p:spPr>
        <p:txBody>
          <a:bodyPr wrap="square" lIns="0" tIns="0" rIns="0" bIns="0" rtlCol="0" anchor="t"/>
          <a:lstStyle/>
          <a:p>
            <a:pPr indent="0" marL="0">
              <a:spcAft>
                <a:spcPts val="600"/>
              </a:spcAft>
              <a:buNone/>
            </a:pPr>
            <a:r>
              <a:rPr lang="en-US" sz="1500" b="1" dirty="0">
                <a:solidFill>
                  <a:srgbClr val="163A5A"/>
                </a:solidFill>
              </a:rPr>
              <a:t>IGV</a:t>
            </a:r>
            <a:endParaRPr lang="en-US" sz="1500" dirty="0"/>
          </a:p>
          <a:p>
            <a:pPr indent="0" marL="0">
              <a:spcAft>
                <a:spcPts val="600"/>
              </a:spcAft>
              <a:buNone/>
            </a:pPr>
            <a:r>
              <a:rPr lang="en-US" sz="1200" dirty="0">
                <a:solidFill>
                  <a:srgbClr val="5B6576"/>
                </a:solidFill>
              </a:rPr>
              <a:t>18 % del valor de venta</a:t>
            </a:r>
            <a:endParaRPr lang="en-US" sz="1500" dirty="0"/>
          </a:p>
          <a:p>
            <a:pPr indent="0" marL="0">
              <a:spcAft>
                <a:spcPts val="600"/>
              </a:spcAft>
              <a:buNone/>
            </a:pPr>
            <a:r>
              <a:rPr lang="en-US" sz="1200" b="1" dirty="0">
                <a:solidFill>
                  <a:srgbClr val="F2A900"/>
                </a:solidFill>
              </a:rPr>
              <a:t>Math.round</a:t>
            </a:r>
            <a:endParaRPr lang="en-US" sz="1500" dirty="0"/>
          </a:p>
        </p:txBody>
      </p:sp>
      <p:pic>
        <p:nvPicPr>
          <p:cNvPr id="11" name="Flecha Math 2" descr="preencoded.png">    </p:cNvPr>
          <p:cNvPicPr>
            <a:picLocks noChangeAspect="1"/>
          </p:cNvPicPr>
          <p:nvPr/>
        </p:nvPicPr>
        <p:blipFill>
          <a:blip r:embed="rId3"/>
          <a:stretch>
            <a:fillRect/>
          </a:stretch>
        </p:blipFill>
        <p:spPr>
          <a:xfrm>
            <a:off x="5349240" y="1691640"/>
            <a:ext cx="182880" cy="182880"/>
          </a:xfrm>
          <a:prstGeom prst="rect">
            <a:avLst/>
          </a:prstGeom>
        </p:spPr>
      </p:pic>
      <p:sp>
        <p:nvSpPr>
          <p:cNvPr id="12" name="Paso Math Total"/>
          <p:cNvSpPr/>
          <p:nvPr/>
        </p:nvSpPr>
        <p:spPr>
          <a:xfrm>
            <a:off x="5559552" y="1143000"/>
            <a:ext cx="1463040" cy="1280160"/>
          </a:xfrm>
          <a:prstGeom prst="roundRect">
            <a:avLst>
              <a:gd name="adj" fmla="val 5714"/>
            </a:avLst>
          </a:prstGeom>
          <a:solidFill>
            <a:srgbClr val="EEF3F8"/>
          </a:solidFill>
          <a:ln w="12700">
            <a:solidFill>
              <a:srgbClr val="EEF3F8"/>
            </a:solidFill>
            <a:prstDash val="solid"/>
          </a:ln>
        </p:spPr>
      </p:sp>
      <p:sp>
        <p:nvSpPr>
          <p:cNvPr id="13" name="Texto paso Math Total"/>
          <p:cNvSpPr txBox="1"/>
          <p:nvPr/>
        </p:nvSpPr>
        <p:spPr>
          <a:xfrm>
            <a:off x="5650992" y="1234440"/>
            <a:ext cx="1280160" cy="1097280"/>
          </a:xfrm>
          <a:prstGeom prst="rect">
            <a:avLst/>
          </a:prstGeom>
          <a:noFill/>
          <a:ln/>
        </p:spPr>
        <p:txBody>
          <a:bodyPr wrap="square" lIns="0" tIns="0" rIns="0" bIns="0" rtlCol="0" anchor="t"/>
          <a:lstStyle/>
          <a:p>
            <a:pPr indent="0" marL="0">
              <a:spcAft>
                <a:spcPts val="600"/>
              </a:spcAft>
              <a:buNone/>
            </a:pPr>
            <a:r>
              <a:rPr lang="en-US" sz="1500" b="1" dirty="0">
                <a:solidFill>
                  <a:srgbClr val="163A5A"/>
                </a:solidFill>
              </a:rPr>
              <a:t>Total</a:t>
            </a:r>
            <a:endParaRPr lang="en-US" sz="1500" dirty="0"/>
          </a:p>
          <a:p>
            <a:pPr indent="0" marL="0">
              <a:spcAft>
                <a:spcPts val="600"/>
              </a:spcAft>
              <a:buNone/>
            </a:pPr>
            <a:r>
              <a:rPr lang="en-US" sz="1200" dirty="0">
                <a:solidFill>
                  <a:srgbClr val="5B6576"/>
                </a:solidFill>
              </a:rPr>
              <a:t>valor de venta + IGV</a:t>
            </a:r>
            <a:endParaRPr lang="en-US" sz="1500" dirty="0"/>
          </a:p>
          <a:p>
            <a:pPr indent="0" marL="0">
              <a:spcAft>
                <a:spcPts val="600"/>
              </a:spcAft>
              <a:buNone/>
            </a:pPr>
            <a:r>
              <a:rPr lang="en-US" sz="1200" b="1" dirty="0">
                <a:solidFill>
                  <a:srgbClr val="F2A900"/>
                </a:solidFill>
              </a:rPr>
              <a:t>Math.round</a:t>
            </a:r>
            <a:endParaRPr lang="en-US" sz="1500" dirty="0"/>
          </a:p>
        </p:txBody>
      </p:sp>
      <p:pic>
        <p:nvPicPr>
          <p:cNvPr id="14" name="Flecha Math 3" descr="preencoded.png">    </p:cNvPr>
          <p:cNvPicPr>
            <a:picLocks noChangeAspect="1"/>
          </p:cNvPicPr>
          <p:nvPr/>
        </p:nvPicPr>
        <p:blipFill>
          <a:blip r:embed="rId4"/>
          <a:stretch>
            <a:fillRect/>
          </a:stretch>
        </p:blipFill>
        <p:spPr>
          <a:xfrm>
            <a:off x="7050024" y="1691640"/>
            <a:ext cx="182880" cy="182880"/>
          </a:xfrm>
          <a:prstGeom prst="rect">
            <a:avLst/>
          </a:prstGeom>
        </p:spPr>
      </p:pic>
      <p:sp>
        <p:nvSpPr>
          <p:cNvPr id="15" name="Paso Math Cuota"/>
          <p:cNvSpPr/>
          <p:nvPr/>
        </p:nvSpPr>
        <p:spPr>
          <a:xfrm>
            <a:off x="7260336" y="1143000"/>
            <a:ext cx="1463040" cy="1280160"/>
          </a:xfrm>
          <a:prstGeom prst="roundRect">
            <a:avLst>
              <a:gd name="adj" fmla="val 5714"/>
            </a:avLst>
          </a:prstGeom>
          <a:solidFill>
            <a:srgbClr val="1F4E79"/>
          </a:solidFill>
          <a:ln w="12700">
            <a:solidFill>
              <a:srgbClr val="1F4E79"/>
            </a:solidFill>
            <a:prstDash val="solid"/>
          </a:ln>
        </p:spPr>
      </p:sp>
      <p:sp>
        <p:nvSpPr>
          <p:cNvPr id="16" name="Texto paso Math Cuota"/>
          <p:cNvSpPr txBox="1"/>
          <p:nvPr/>
        </p:nvSpPr>
        <p:spPr>
          <a:xfrm>
            <a:off x="7351776" y="1234440"/>
            <a:ext cx="1280160" cy="1097280"/>
          </a:xfrm>
          <a:prstGeom prst="rect">
            <a:avLst/>
          </a:prstGeom>
          <a:noFill/>
          <a:ln/>
        </p:spPr>
        <p:txBody>
          <a:bodyPr wrap="square" lIns="0" tIns="0" rIns="0" bIns="0" rtlCol="0" anchor="t"/>
          <a:lstStyle/>
          <a:p>
            <a:pPr indent="0" marL="0">
              <a:spcAft>
                <a:spcPts val="600"/>
              </a:spcAft>
              <a:buNone/>
            </a:pPr>
            <a:r>
              <a:rPr lang="en-US" sz="1500" b="1" dirty="0">
                <a:solidFill>
                  <a:srgbClr val="FFFFFF"/>
                </a:solidFill>
              </a:rPr>
              <a:t>Cuota</a:t>
            </a:r>
            <a:endParaRPr lang="en-US" sz="1500" dirty="0"/>
          </a:p>
          <a:p>
            <a:pPr indent="0" marL="0">
              <a:spcAft>
                <a:spcPts val="600"/>
              </a:spcAft>
              <a:buNone/>
            </a:pPr>
            <a:r>
              <a:rPr lang="en-US" sz="1200" dirty="0">
                <a:solidFill>
                  <a:srgbClr val="EEF3F8"/>
                </a:solidFill>
              </a:rPr>
              <a:t>sistema francés</a:t>
            </a:r>
            <a:endParaRPr lang="en-US" sz="1500" dirty="0"/>
          </a:p>
          <a:p>
            <a:pPr indent="0" marL="0">
              <a:spcAft>
                <a:spcPts val="600"/>
              </a:spcAft>
              <a:buNone/>
            </a:pPr>
            <a:r>
              <a:rPr lang="en-US" sz="1200" b="1" dirty="0">
                <a:solidFill>
                  <a:srgbClr val="F2A900"/>
                </a:solidFill>
              </a:rPr>
              <a:t>Math.pow / ceil</a:t>
            </a:r>
            <a:endParaRPr lang="en-US" sz="1500" dirty="0"/>
          </a:p>
        </p:txBody>
      </p:sp>
      <p:sp>
        <p:nvSpPr>
          <p:cNvPr id="17" name="Fórmula"/>
          <p:cNvSpPr/>
          <p:nvPr/>
        </p:nvSpPr>
        <p:spPr>
          <a:xfrm>
            <a:off x="457200" y="2697480"/>
            <a:ext cx="8229600" cy="1783080"/>
          </a:xfrm>
          <a:prstGeom prst="roundRect">
            <a:avLst>
              <a:gd name="adj" fmla="val 4103"/>
            </a:avLst>
          </a:prstGeom>
          <a:solidFill>
            <a:srgbClr val="1B2430"/>
          </a:solidFill>
          <a:ln w="12700">
            <a:solidFill>
              <a:srgbClr val="1B2430"/>
            </a:solidFill>
            <a:prstDash val="solid"/>
          </a:ln>
        </p:spPr>
      </p:sp>
      <p:sp>
        <p:nvSpPr>
          <p:cNvPr id="18" name="Texto fórmula"/>
          <p:cNvSpPr txBox="1"/>
          <p:nvPr/>
        </p:nvSpPr>
        <p:spPr>
          <a:xfrm>
            <a:off x="685800" y="2834640"/>
            <a:ext cx="7772400" cy="1508760"/>
          </a:xfrm>
          <a:prstGeom prst="rect">
            <a:avLst/>
          </a:prstGeom>
          <a:noFill/>
          <a:ln/>
        </p:spPr>
        <p:txBody>
          <a:bodyPr wrap="square" lIns="0" tIns="0" rIns="0" bIns="0" rtlCol="0" anchor="ctr"/>
          <a:lstStyle/>
          <a:p>
            <a:pPr indent="0" marL="0">
              <a:spcAft>
                <a:spcPts val="800"/>
              </a:spcAft>
              <a:buNone/>
            </a:pPr>
            <a:r>
              <a:rPr lang="en-US" sz="1800" b="1" dirty="0">
                <a:solidFill>
                  <a:srgbClr val="F2A900"/>
                </a:solidFill>
                <a:latin typeface="Courier New" pitchFamily="34" charset="0"/>
                <a:ea typeface="Courier New" pitchFamily="34" charset="-122"/>
                <a:cs typeface="Courier New" pitchFamily="34" charset="-120"/>
              </a:rPr>
              <a:t>cuota = monto × i / (1 - (1 + i)^-n)</a:t>
            </a:r>
            <a:endParaRPr lang="en-US" sz="1800" dirty="0"/>
          </a:p>
          <a:p>
            <a:pPr indent="0" marL="0">
              <a:spcAft>
                <a:spcPts val="800"/>
              </a:spcAft>
              <a:buNone/>
            </a:pPr>
            <a:r>
              <a:rPr lang="en-US" sz="1400" dirty="0">
                <a:solidFill>
                  <a:srgbClr val="EEF3F8"/>
                </a:solidFill>
                <a:latin typeface="Courier New" pitchFamily="34" charset="0"/>
                <a:ea typeface="Courier New" pitchFamily="34" charset="-122"/>
                <a:cs typeface="Courier New" pitchFamily="34" charset="-120"/>
              </a:rPr>
              <a:t>monto * tasa / (1 - Math.pow(1 + tasa, -n))</a:t>
            </a:r>
            <a:endParaRPr lang="en-US" sz="1800" dirty="0"/>
          </a:p>
          <a:p>
            <a:pPr indent="0" marL="0">
              <a:spcAft>
                <a:spcPts val="800"/>
              </a:spcAft>
              <a:buNone/>
            </a:pPr>
            <a:r>
              <a:rPr lang="en-US" sz="1300" dirty="0">
                <a:solidFill>
                  <a:srgbClr val="D9DEE6"/>
                </a:solidFill>
              </a:rPr>
              <a:t>La cuota se redondea hacia arriba con Math.ceil para que la suma de cuotas nunca quede debajo del total. El código de la cotización usa Math.random.</a:t>
            </a:r>
            <a:endParaRPr lang="en-US" sz="1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Ejemplo: 10 laptops en 6 cuotas con PROMO10</a:t>
            </a:r>
            <a:endParaRPr lang="en-US" sz="3000" dirty="0"/>
          </a:p>
        </p:txBody>
      </p:sp>
      <p:sp>
        <p:nvSpPr>
          <p:cNvPr id="3" name="Dato descuento"/>
          <p:cNvSpPr/>
          <p:nvPr/>
        </p:nvSpPr>
        <p:spPr>
          <a:xfrm>
            <a:off x="457200" y="1097280"/>
            <a:ext cx="4023360" cy="1600200"/>
          </a:xfrm>
          <a:prstGeom prst="roundRect">
            <a:avLst>
              <a:gd name="adj" fmla="val 4571"/>
            </a:avLst>
          </a:prstGeom>
          <a:solidFill>
            <a:srgbClr val="EEF3F8"/>
          </a:solidFill>
          <a:ln w="12700">
            <a:solidFill>
              <a:srgbClr val="EEF3F8"/>
            </a:solidFill>
            <a:prstDash val="solid"/>
          </a:ln>
        </p:spPr>
      </p:sp>
      <p:sp>
        <p:nvSpPr>
          <p:cNvPr id="4" name="Texto dato descuento"/>
          <p:cNvSpPr txBox="1"/>
          <p:nvPr/>
        </p:nvSpPr>
        <p:spPr>
          <a:xfrm>
            <a:off x="731520" y="1207008"/>
            <a:ext cx="3566160" cy="1371600"/>
          </a:xfrm>
          <a:prstGeom prst="rect">
            <a:avLst/>
          </a:prstGeom>
          <a:noFill/>
          <a:ln/>
        </p:spPr>
        <p:txBody>
          <a:bodyPr wrap="square" lIns="0" tIns="0" rIns="0" bIns="0" rtlCol="0" anchor="ctr"/>
          <a:lstStyle/>
          <a:p>
            <a:pPr indent="0" marL="0">
              <a:buNone/>
            </a:pPr>
            <a:r>
              <a:rPr lang="en-US" sz="3200" b="1" dirty="0">
                <a:solidFill>
                  <a:srgbClr val="163A5A"/>
                </a:solidFill>
                <a:latin typeface="Cambria" pitchFamily="34" charset="0"/>
                <a:ea typeface="Cambria" pitchFamily="34" charset="-122"/>
                <a:cs typeface="Cambria" pitchFamily="34" charset="-120"/>
              </a:rPr>
              <a:t>15 %</a:t>
            </a:r>
            <a:endParaRPr lang="en-US" sz="3200" dirty="0"/>
          </a:p>
          <a:p>
            <a:pPr indent="0" marL="0">
              <a:buNone/>
            </a:pPr>
            <a:r>
              <a:rPr lang="en-US" sz="1500" b="1" dirty="0">
                <a:solidFill>
                  <a:srgbClr val="1F4E79"/>
                </a:solidFill>
              </a:rPr>
              <a:t>descuento</a:t>
            </a:r>
            <a:endParaRPr lang="en-US" sz="3200" dirty="0"/>
          </a:p>
          <a:p>
            <a:pPr indent="0" marL="0">
              <a:buNone/>
            </a:pPr>
            <a:r>
              <a:rPr lang="en-US" sz="1200" dirty="0">
                <a:solidFill>
                  <a:srgbClr val="5B6576"/>
                </a:solidFill>
              </a:rPr>
              <a:t>5 % volumen + 10 % cupón</a:t>
            </a:r>
            <a:endParaRPr lang="en-US" sz="3200" dirty="0"/>
          </a:p>
        </p:txBody>
      </p:sp>
      <p:sp>
        <p:nvSpPr>
          <p:cNvPr id="5" name="Dato total con IGV"/>
          <p:cNvSpPr/>
          <p:nvPr/>
        </p:nvSpPr>
        <p:spPr>
          <a:xfrm>
            <a:off x="4663440" y="1097280"/>
            <a:ext cx="4023360" cy="1600200"/>
          </a:xfrm>
          <a:prstGeom prst="roundRect">
            <a:avLst>
              <a:gd name="adj" fmla="val 4571"/>
            </a:avLst>
          </a:prstGeom>
          <a:solidFill>
            <a:srgbClr val="EEF3F8"/>
          </a:solidFill>
          <a:ln w="12700">
            <a:solidFill>
              <a:srgbClr val="EEF3F8"/>
            </a:solidFill>
            <a:prstDash val="solid"/>
          </a:ln>
        </p:spPr>
      </p:sp>
      <p:sp>
        <p:nvSpPr>
          <p:cNvPr id="6" name="Texto dato total con IGV"/>
          <p:cNvSpPr txBox="1"/>
          <p:nvPr/>
        </p:nvSpPr>
        <p:spPr>
          <a:xfrm>
            <a:off x="4937760" y="1207008"/>
            <a:ext cx="3566160" cy="1371600"/>
          </a:xfrm>
          <a:prstGeom prst="rect">
            <a:avLst/>
          </a:prstGeom>
          <a:noFill/>
          <a:ln/>
        </p:spPr>
        <p:txBody>
          <a:bodyPr wrap="square" lIns="0" tIns="0" rIns="0" bIns="0" rtlCol="0" anchor="ctr"/>
          <a:lstStyle/>
          <a:p>
            <a:pPr indent="0" marL="0">
              <a:buNone/>
            </a:pPr>
            <a:r>
              <a:rPr lang="en-US" sz="3200" b="1" dirty="0">
                <a:solidFill>
                  <a:srgbClr val="163A5A"/>
                </a:solidFill>
                <a:latin typeface="Cambria" pitchFamily="34" charset="0"/>
                <a:ea typeface="Cambria" pitchFamily="34" charset="-122"/>
                <a:cs typeface="Cambria" pitchFamily="34" charset="-120"/>
              </a:rPr>
              <a:t>S/ 29,076.97</a:t>
            </a:r>
            <a:endParaRPr lang="en-US" sz="3200" dirty="0"/>
          </a:p>
          <a:p>
            <a:pPr indent="0" marL="0">
              <a:buNone/>
            </a:pPr>
            <a:r>
              <a:rPr lang="en-US" sz="1500" b="1" dirty="0">
                <a:solidFill>
                  <a:srgbClr val="1F4E79"/>
                </a:solidFill>
              </a:rPr>
              <a:t>total con IGV</a:t>
            </a:r>
            <a:endParaRPr lang="en-US" sz="3200" dirty="0"/>
          </a:p>
          <a:p>
            <a:pPr indent="0" marL="0">
              <a:buNone/>
            </a:pPr>
            <a:r>
              <a:rPr lang="en-US" sz="1200" dirty="0">
                <a:solidFill>
                  <a:srgbClr val="5B6576"/>
                </a:solidFill>
              </a:rPr>
              <a:t>valor de venta S/ 24,641.50</a:t>
            </a:r>
            <a:endParaRPr lang="en-US" sz="3200" dirty="0"/>
          </a:p>
        </p:txBody>
      </p:sp>
      <p:sp>
        <p:nvSpPr>
          <p:cNvPr id="7" name="Dato cuota mensual"/>
          <p:cNvSpPr/>
          <p:nvPr/>
        </p:nvSpPr>
        <p:spPr>
          <a:xfrm>
            <a:off x="457200" y="2880360"/>
            <a:ext cx="4023360" cy="1600200"/>
          </a:xfrm>
          <a:prstGeom prst="roundRect">
            <a:avLst>
              <a:gd name="adj" fmla="val 4571"/>
            </a:avLst>
          </a:prstGeom>
          <a:solidFill>
            <a:srgbClr val="1F4E79"/>
          </a:solidFill>
          <a:ln w="12700">
            <a:solidFill>
              <a:srgbClr val="1F4E79"/>
            </a:solidFill>
            <a:prstDash val="solid"/>
          </a:ln>
        </p:spPr>
      </p:sp>
      <p:sp>
        <p:nvSpPr>
          <p:cNvPr id="8" name="Texto dato cuota mensual"/>
          <p:cNvSpPr txBox="1"/>
          <p:nvPr/>
        </p:nvSpPr>
        <p:spPr>
          <a:xfrm>
            <a:off x="731520" y="2990088"/>
            <a:ext cx="3566160" cy="13716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 5,103.75</a:t>
            </a:r>
            <a:endParaRPr lang="en-US" sz="3200" dirty="0"/>
          </a:p>
          <a:p>
            <a:pPr indent="0" marL="0">
              <a:buNone/>
            </a:pPr>
            <a:r>
              <a:rPr lang="en-US" sz="1500" b="1" dirty="0">
                <a:solidFill>
                  <a:srgbClr val="F2A900"/>
                </a:solidFill>
              </a:rPr>
              <a:t>cuota mensual</a:t>
            </a:r>
            <a:endParaRPr lang="en-US" sz="3200" dirty="0"/>
          </a:p>
          <a:p>
            <a:pPr indent="0" marL="0">
              <a:buNone/>
            </a:pPr>
            <a:r>
              <a:rPr lang="en-US" sz="1200" dirty="0">
                <a:solidFill>
                  <a:srgbClr val="EEF3F8"/>
                </a:solidFill>
              </a:rPr>
              <a:t>6 cuotas al 1.5 % mensual</a:t>
            </a:r>
            <a:endParaRPr lang="en-US" sz="3200" dirty="0"/>
          </a:p>
        </p:txBody>
      </p:sp>
      <p:sp>
        <p:nvSpPr>
          <p:cNvPr id="9" name="Dato intereses"/>
          <p:cNvSpPr/>
          <p:nvPr/>
        </p:nvSpPr>
        <p:spPr>
          <a:xfrm>
            <a:off x="4663440" y="2880360"/>
            <a:ext cx="4023360" cy="1600200"/>
          </a:xfrm>
          <a:prstGeom prst="roundRect">
            <a:avLst>
              <a:gd name="adj" fmla="val 4571"/>
            </a:avLst>
          </a:prstGeom>
          <a:solidFill>
            <a:srgbClr val="EEF3F8"/>
          </a:solidFill>
          <a:ln w="12700">
            <a:solidFill>
              <a:srgbClr val="EEF3F8"/>
            </a:solidFill>
            <a:prstDash val="solid"/>
          </a:ln>
        </p:spPr>
      </p:sp>
      <p:sp>
        <p:nvSpPr>
          <p:cNvPr id="10" name="Texto dato intereses"/>
          <p:cNvSpPr txBox="1"/>
          <p:nvPr/>
        </p:nvSpPr>
        <p:spPr>
          <a:xfrm>
            <a:off x="4937760" y="2990088"/>
            <a:ext cx="3566160" cy="1371600"/>
          </a:xfrm>
          <a:prstGeom prst="rect">
            <a:avLst/>
          </a:prstGeom>
          <a:noFill/>
          <a:ln/>
        </p:spPr>
        <p:txBody>
          <a:bodyPr wrap="square" lIns="0" tIns="0" rIns="0" bIns="0" rtlCol="0" anchor="ctr"/>
          <a:lstStyle/>
          <a:p>
            <a:pPr indent="0" marL="0">
              <a:buNone/>
            </a:pPr>
            <a:r>
              <a:rPr lang="en-US" sz="3200" b="1" dirty="0">
                <a:solidFill>
                  <a:srgbClr val="163A5A"/>
                </a:solidFill>
                <a:latin typeface="Cambria" pitchFamily="34" charset="0"/>
                <a:ea typeface="Cambria" pitchFamily="34" charset="-122"/>
                <a:cs typeface="Cambria" pitchFamily="34" charset="-120"/>
              </a:rPr>
              <a:t>S/ 1,545.53</a:t>
            </a:r>
            <a:endParaRPr lang="en-US" sz="3200" dirty="0"/>
          </a:p>
          <a:p>
            <a:pPr indent="0" marL="0">
              <a:buNone/>
            </a:pPr>
            <a:r>
              <a:rPr lang="en-US" sz="1500" b="1" dirty="0">
                <a:solidFill>
                  <a:srgbClr val="1F4E79"/>
                </a:solidFill>
              </a:rPr>
              <a:t>intereses</a:t>
            </a:r>
            <a:endParaRPr lang="en-US" sz="3200" dirty="0"/>
          </a:p>
          <a:p>
            <a:pPr indent="0" marL="0">
              <a:buNone/>
            </a:pPr>
            <a:r>
              <a:rPr lang="en-US" sz="1200" dirty="0">
                <a:solidFill>
                  <a:srgbClr val="5B6576"/>
                </a:solidFill>
              </a:rPr>
              <a:t>total financiado S/ 30,622.50</a:t>
            </a: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La salida: cotización y cómo se procesó</a:t>
            </a:r>
            <a:endParaRPr lang="en-US" sz="3000" dirty="0"/>
          </a:p>
        </p:txBody>
      </p:sp>
      <p:pic>
        <p:nvPicPr>
          <p:cNvPr id="3" name="Captura cotización" descr="cot.png">    </p:cNvPr>
          <p:cNvPicPr>
            <a:picLocks noChangeAspect="1"/>
          </p:cNvPicPr>
          <p:nvPr/>
        </p:nvPicPr>
        <p:blipFill>
          <a:blip r:embed="rId1"/>
          <a:stretch>
            <a:fillRect/>
          </a:stretch>
        </p:blipFill>
        <p:spPr>
          <a:xfrm>
            <a:off x="457200" y="1051560"/>
            <a:ext cx="2633560" cy="3520440"/>
          </a:xfrm>
          <a:prstGeom prst="rect">
            <a:avLst/>
          </a:prstGeom>
        </p:spPr>
      </p:pic>
      <p:pic>
        <p:nvPicPr>
          <p:cNvPr id="4" name="Captura procesamiento" descr="proc.png">    </p:cNvPr>
          <p:cNvPicPr>
            <a:picLocks noChangeAspect="1"/>
          </p:cNvPicPr>
          <p:nvPr/>
        </p:nvPicPr>
        <p:blipFill>
          <a:blip r:embed="rId2"/>
          <a:stretch>
            <a:fillRect/>
          </a:stretch>
        </p:blipFill>
        <p:spPr>
          <a:xfrm>
            <a:off x="3291840" y="1051560"/>
            <a:ext cx="3701219" cy="3520440"/>
          </a:xfrm>
          <a:prstGeom prst="rect">
            <a:avLst/>
          </a:prstGeom>
        </p:spPr>
      </p:pic>
      <p:sp>
        <p:nvSpPr>
          <p:cNvPr id="5" name="Notas salida"/>
          <p:cNvSpPr txBox="1"/>
          <p:nvPr/>
        </p:nvSpPr>
        <p:spPr>
          <a:xfrm>
            <a:off x="7086600" y="1097280"/>
            <a:ext cx="1600200" cy="3474720"/>
          </a:xfrm>
          <a:prstGeom prst="rect">
            <a:avLst/>
          </a:prstGeom>
          <a:noFill/>
          <a:ln/>
        </p:spPr>
        <p:txBody>
          <a:bodyPr wrap="square" lIns="0" tIns="0" rIns="0" bIns="0" rtlCol="0" anchor="t"/>
          <a:lstStyle/>
          <a:p>
            <a:pPr indent="0" marL="0">
              <a:buNone/>
            </a:pPr>
            <a:r>
              <a:rPr lang="en-US" sz="1200" b="1" dirty="0">
                <a:solidFill>
                  <a:srgbClr val="163A5A"/>
                </a:solidFill>
              </a:rPr>
              <a:t>Código único</a:t>
            </a:r>
            <a:endParaRPr lang="en-US" sz="1200" dirty="0"/>
          </a:p>
          <a:p>
            <a:pPr indent="0" marL="0">
              <a:buNone/>
            </a:pPr>
            <a:r>
              <a:rPr lang="en-US" sz="1200" dirty="0">
                <a:solidFill>
                  <a:srgbClr val="5B6576"/>
                </a:solidFill>
              </a:rPr>
              <a:t>COT + iniciales + DNI + aleatorio</a:t>
            </a:r>
            <a:endParaRPr lang="en-US" sz="1200" dirty="0"/>
          </a:p>
          <a:p>
            <a:pPr indent="0" marL="0">
              <a:buNone/>
            </a:pPr>
            <a:r>
              <a:rPr lang="en-US" sz="600" dirty="0">
                <a:solidFill>
                  <a:srgbClr val="000000"/>
                </a:solidFill>
              </a:rPr>
              <a:t> </a:t>
            </a:r>
            <a:endParaRPr lang="en-US" sz="1200" dirty="0"/>
          </a:p>
          <a:p>
            <a:pPr indent="0" marL="0">
              <a:buNone/>
            </a:pPr>
            <a:r>
              <a:rPr lang="en-US" sz="1200" b="1" dirty="0">
                <a:solidFill>
                  <a:srgbClr val="163A5A"/>
                </a:solidFill>
              </a:rPr>
              <a:t>Datos protegidos</a:t>
            </a:r>
            <a:endParaRPr lang="en-US" sz="1200" dirty="0"/>
          </a:p>
          <a:p>
            <a:pPr indent="0" marL="0">
              <a:buNone/>
            </a:pPr>
            <a:r>
              <a:rPr lang="en-US" sz="1200" dirty="0">
                <a:solidFill>
                  <a:srgbClr val="5B6576"/>
                </a:solidFill>
              </a:rPr>
              <a:t>Correo oculto y HTML escapado</a:t>
            </a:r>
            <a:endParaRPr lang="en-US" sz="1200" dirty="0"/>
          </a:p>
          <a:p>
            <a:pPr indent="0" marL="0">
              <a:buNone/>
            </a:pPr>
            <a:r>
              <a:rPr lang="en-US" sz="600" dirty="0">
                <a:solidFill>
                  <a:srgbClr val="000000"/>
                </a:solidFill>
              </a:rPr>
              <a:t> </a:t>
            </a:r>
            <a:endParaRPr lang="en-US" sz="1200" dirty="0"/>
          </a:p>
          <a:p>
            <a:pPr indent="0" marL="0">
              <a:buNone/>
            </a:pPr>
            <a:r>
              <a:rPr lang="en-US" sz="1200" b="1" dirty="0">
                <a:solidFill>
                  <a:srgbClr val="163A5A"/>
                </a:solidFill>
              </a:rPr>
              <a:t>Tabla de procesamiento</a:t>
            </a:r>
            <a:endParaRPr lang="en-US" sz="1200" dirty="0"/>
          </a:p>
          <a:p>
            <a:pPr indent="0" marL="0">
              <a:buNone/>
            </a:pPr>
            <a:r>
              <a:rPr lang="en-US" sz="1200" dirty="0">
                <a:solidFill>
                  <a:srgbClr val="5B6576"/>
                </a:solidFill>
              </a:rPr>
              <a:t>Muestra qué métodos se aplicaron a cada dato</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Pruebas: 46 de 46 casos correctos</a:t>
            </a:r>
            <a:endParaRPr lang="en-US" sz="3000" dirty="0"/>
          </a:p>
        </p:txBody>
      </p:sp>
      <p:sp>
        <p:nvSpPr>
          <p:cNvPr id="3" name="Resultado pruebas"/>
          <p:cNvSpPr/>
          <p:nvPr/>
        </p:nvSpPr>
        <p:spPr>
          <a:xfrm>
            <a:off x="457200" y="1097280"/>
            <a:ext cx="3108960" cy="3383280"/>
          </a:xfrm>
          <a:prstGeom prst="roundRect">
            <a:avLst>
              <a:gd name="adj" fmla="val 2353"/>
            </a:avLst>
          </a:prstGeom>
          <a:solidFill>
            <a:srgbClr val="2E7D5B"/>
          </a:solidFill>
          <a:ln w="12700">
            <a:solidFill>
              <a:srgbClr val="2E7D5B"/>
            </a:solidFill>
            <a:prstDash val="solid"/>
          </a:ln>
        </p:spPr>
      </p:sp>
      <p:sp>
        <p:nvSpPr>
          <p:cNvPr id="4" name="Texto pruebas"/>
          <p:cNvSpPr txBox="1"/>
          <p:nvPr/>
        </p:nvSpPr>
        <p:spPr>
          <a:xfrm>
            <a:off x="685800" y="1234440"/>
            <a:ext cx="2697480" cy="31089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46 / 46</a:t>
            </a:r>
            <a:endParaRPr lang="en-US" sz="5400" dirty="0"/>
          </a:p>
          <a:p>
            <a:pPr indent="0" marL="0">
              <a:buNone/>
            </a:pPr>
            <a:r>
              <a:rPr lang="en-US" sz="1500" dirty="0">
                <a:solidFill>
                  <a:srgbClr val="FFFFFF"/>
                </a:solidFill>
              </a:rPr>
              <a:t>pruebas por consola correctas</a:t>
            </a:r>
            <a:endParaRPr lang="en-US" sz="5400" dirty="0"/>
          </a:p>
          <a:p>
            <a:pPr indent="0" marL="0">
              <a:buNone/>
            </a:pPr>
            <a:r>
              <a:rPr lang="en-US" sz="800" dirty="0">
                <a:solidFill>
                  <a:srgbClr val="000000"/>
                </a:solidFill>
              </a:rPr>
              <a:t> </a:t>
            </a:r>
            <a:endParaRPr lang="en-US" sz="5400" dirty="0"/>
          </a:p>
          <a:p>
            <a:pPr indent="0" marL="0">
              <a:buNone/>
            </a:pPr>
            <a:r>
              <a:rPr lang="en-US" sz="1200" dirty="0">
                <a:solidFill>
                  <a:srgbClr val="DCEFE5"/>
                </a:solidFill>
              </a:rPr>
              <a:t>PruebasCotizador.main() revisa ProCadenas, ProAritmetica, ValidadorDatos y Cotizacion</a:t>
            </a:r>
            <a:endParaRPr lang="en-US" sz="5400" dirty="0"/>
          </a:p>
        </p:txBody>
      </p:sp>
      <p:sp>
        <p:nvSpPr>
          <p:cNvPr id="5" name="Título funcionales"/>
          <p:cNvSpPr txBox="1"/>
          <p:nvPr/>
        </p:nvSpPr>
        <p:spPr>
          <a:xfrm>
            <a:off x="3931920" y="1097280"/>
            <a:ext cx="4754880" cy="365760"/>
          </a:xfrm>
          <a:prstGeom prst="rect">
            <a:avLst/>
          </a:prstGeom>
          <a:noFill/>
          <a:ln/>
        </p:spPr>
        <p:txBody>
          <a:bodyPr wrap="square" lIns="0" tIns="0" rIns="0" bIns="0" rtlCol="0" anchor="ctr"/>
          <a:lstStyle/>
          <a:p>
            <a:pPr indent="0" marL="0">
              <a:buNone/>
            </a:pPr>
            <a:r>
              <a:rPr lang="en-US" sz="1600" b="1" dirty="0">
                <a:solidFill>
                  <a:schemeClr val="tx2"/>
                </a:solidFill>
              </a:rPr>
              <a:t>Pruebas funcionales en Tomcat</a:t>
            </a:r>
            <a:endParaRPr lang="en-US" sz="1600" dirty="0"/>
          </a:p>
        </p:txBody>
      </p:sp>
      <p:pic>
        <p:nvPicPr>
          <p:cNvPr id="6" name="Check 0" descr="preencoded.png">    </p:cNvPr>
          <p:cNvPicPr>
            <a:picLocks noChangeAspect="1"/>
          </p:cNvPicPr>
          <p:nvPr/>
        </p:nvPicPr>
        <p:blipFill>
          <a:blip r:embed="rId1"/>
          <a:stretch>
            <a:fillRect/>
          </a:stretch>
        </p:blipFill>
        <p:spPr>
          <a:xfrm>
            <a:off x="3931920" y="1664208"/>
            <a:ext cx="256032" cy="256032"/>
          </a:xfrm>
          <a:prstGeom prst="rect">
            <a:avLst/>
          </a:prstGeom>
        </p:spPr>
      </p:pic>
      <p:sp>
        <p:nvSpPr>
          <p:cNvPr id="7" name="Prueba 0"/>
          <p:cNvSpPr txBox="1"/>
          <p:nvPr/>
        </p:nvSpPr>
        <p:spPr>
          <a:xfrm>
            <a:off x="4343400" y="1600200"/>
            <a:ext cx="4343400" cy="384048"/>
          </a:xfrm>
          <a:prstGeom prst="rect">
            <a:avLst/>
          </a:prstGeom>
          <a:noFill/>
          <a:ln/>
        </p:spPr>
        <p:txBody>
          <a:bodyPr wrap="square" lIns="0" tIns="0" rIns="0" bIns="0" rtlCol="0" anchor="ctr"/>
          <a:lstStyle/>
          <a:p>
            <a:pPr indent="0" marL="0">
              <a:buNone/>
            </a:pPr>
            <a:r>
              <a:rPr lang="en-US" sz="1400" dirty="0">
                <a:solidFill>
                  <a:schemeClr val="tx1"/>
                </a:solidFill>
              </a:rPr>
              <a:t>Caso al contado sin descuento: total S/ 282.96</a:t>
            </a:r>
            <a:endParaRPr lang="en-US" sz="1400" dirty="0"/>
          </a:p>
        </p:txBody>
      </p:sp>
      <p:pic>
        <p:nvPicPr>
          <p:cNvPr id="8" name="Check 1" descr="preencoded.png">    </p:cNvPr>
          <p:cNvPicPr>
            <a:picLocks noChangeAspect="1"/>
          </p:cNvPicPr>
          <p:nvPr/>
        </p:nvPicPr>
        <p:blipFill>
          <a:blip r:embed="rId2"/>
          <a:stretch>
            <a:fillRect/>
          </a:stretch>
        </p:blipFill>
        <p:spPr>
          <a:xfrm>
            <a:off x="3931920" y="2139696"/>
            <a:ext cx="256032" cy="256032"/>
          </a:xfrm>
          <a:prstGeom prst="rect">
            <a:avLst/>
          </a:prstGeom>
        </p:spPr>
      </p:pic>
      <p:sp>
        <p:nvSpPr>
          <p:cNvPr id="9" name="Prueba 1"/>
          <p:cNvSpPr txBox="1"/>
          <p:nvPr/>
        </p:nvSpPr>
        <p:spPr>
          <a:xfrm>
            <a:off x="4343400" y="2075688"/>
            <a:ext cx="4343400" cy="384048"/>
          </a:xfrm>
          <a:prstGeom prst="rect">
            <a:avLst/>
          </a:prstGeom>
          <a:noFill/>
          <a:ln/>
        </p:spPr>
        <p:txBody>
          <a:bodyPr wrap="square" lIns="0" tIns="0" rIns="0" bIns="0" rtlCol="0" anchor="ctr"/>
          <a:lstStyle/>
          <a:p>
            <a:pPr indent="0" marL="0">
              <a:buNone/>
            </a:pPr>
            <a:r>
              <a:rPr lang="en-US" sz="1400" dirty="0">
                <a:solidFill>
                  <a:schemeClr val="tx1"/>
                </a:solidFill>
              </a:rPr>
              <a:t>Caso con cupón y cuotas: total S/ 29,076.97</a:t>
            </a:r>
            <a:endParaRPr lang="en-US" sz="1400" dirty="0"/>
          </a:p>
        </p:txBody>
      </p:sp>
      <p:pic>
        <p:nvPicPr>
          <p:cNvPr id="10" name="Check 2" descr="preencoded.png">    </p:cNvPr>
          <p:cNvPicPr>
            <a:picLocks noChangeAspect="1"/>
          </p:cNvPicPr>
          <p:nvPr/>
        </p:nvPicPr>
        <p:blipFill>
          <a:blip r:embed="rId3"/>
          <a:stretch>
            <a:fillRect/>
          </a:stretch>
        </p:blipFill>
        <p:spPr>
          <a:xfrm>
            <a:off x="3931920" y="2615184"/>
            <a:ext cx="256032" cy="256032"/>
          </a:xfrm>
          <a:prstGeom prst="rect">
            <a:avLst/>
          </a:prstGeom>
        </p:spPr>
      </p:pic>
      <p:sp>
        <p:nvSpPr>
          <p:cNvPr id="11" name="Prueba 2"/>
          <p:cNvSpPr txBox="1"/>
          <p:nvPr/>
        </p:nvSpPr>
        <p:spPr>
          <a:xfrm>
            <a:off x="4343400" y="2551176"/>
            <a:ext cx="4343400" cy="384048"/>
          </a:xfrm>
          <a:prstGeom prst="rect">
            <a:avLst/>
          </a:prstGeom>
          <a:noFill/>
          <a:ln/>
        </p:spPr>
        <p:txBody>
          <a:bodyPr wrap="square" lIns="0" tIns="0" rIns="0" bIns="0" rtlCol="0" anchor="ctr"/>
          <a:lstStyle/>
          <a:p>
            <a:pPr indent="0" marL="0">
              <a:buNone/>
            </a:pPr>
            <a:r>
              <a:rPr lang="en-US" sz="1400" dirty="0">
                <a:solidFill>
                  <a:schemeClr val="tx1"/>
                </a:solidFill>
              </a:rPr>
              <a:t>Descuento de 25 % limitado al tope de 20 %</a:t>
            </a:r>
            <a:endParaRPr lang="en-US" sz="1400" dirty="0"/>
          </a:p>
        </p:txBody>
      </p:sp>
      <p:pic>
        <p:nvPicPr>
          <p:cNvPr id="12" name="Check 3" descr="preencoded.png">    </p:cNvPr>
          <p:cNvPicPr>
            <a:picLocks noChangeAspect="1"/>
          </p:cNvPicPr>
          <p:nvPr/>
        </p:nvPicPr>
        <p:blipFill>
          <a:blip r:embed="rId4"/>
          <a:stretch>
            <a:fillRect/>
          </a:stretch>
        </p:blipFill>
        <p:spPr>
          <a:xfrm>
            <a:off x="3931920" y="3090672"/>
            <a:ext cx="256032" cy="256032"/>
          </a:xfrm>
          <a:prstGeom prst="rect">
            <a:avLst/>
          </a:prstGeom>
        </p:spPr>
      </p:pic>
      <p:sp>
        <p:nvSpPr>
          <p:cNvPr id="13" name="Prueba 3"/>
          <p:cNvSpPr txBox="1"/>
          <p:nvPr/>
        </p:nvSpPr>
        <p:spPr>
          <a:xfrm>
            <a:off x="4343400" y="3026664"/>
            <a:ext cx="4343400" cy="384048"/>
          </a:xfrm>
          <a:prstGeom prst="rect">
            <a:avLst/>
          </a:prstGeom>
          <a:noFill/>
          <a:ln/>
        </p:spPr>
        <p:txBody>
          <a:bodyPr wrap="square" lIns="0" tIns="0" rIns="0" bIns="0" rtlCol="0" anchor="ctr"/>
          <a:lstStyle/>
          <a:p>
            <a:pPr indent="0" marL="0">
              <a:buNone/>
            </a:pPr>
            <a:r>
              <a:rPr lang="en-US" sz="1400" dirty="0">
                <a:solidFill>
                  <a:schemeClr val="tx1"/>
                </a:solidFill>
              </a:rPr>
              <a:t>Nombres con tildes y ñ: Ángel Muñoz Peña</a:t>
            </a:r>
            <a:endParaRPr lang="en-US" sz="1400" dirty="0"/>
          </a:p>
        </p:txBody>
      </p:sp>
      <p:pic>
        <p:nvPicPr>
          <p:cNvPr id="14" name="Check 4" descr="preencoded.png">    </p:cNvPr>
          <p:cNvPicPr>
            <a:picLocks noChangeAspect="1"/>
          </p:cNvPicPr>
          <p:nvPr/>
        </p:nvPicPr>
        <p:blipFill>
          <a:blip r:embed="rId5"/>
          <a:stretch>
            <a:fillRect/>
          </a:stretch>
        </p:blipFill>
        <p:spPr>
          <a:xfrm>
            <a:off x="3931920" y="3566160"/>
            <a:ext cx="256032" cy="256032"/>
          </a:xfrm>
          <a:prstGeom prst="rect">
            <a:avLst/>
          </a:prstGeom>
        </p:spPr>
      </p:pic>
      <p:sp>
        <p:nvSpPr>
          <p:cNvPr id="15" name="Prueba 4"/>
          <p:cNvSpPr txBox="1"/>
          <p:nvPr/>
        </p:nvSpPr>
        <p:spPr>
          <a:xfrm>
            <a:off x="4343400" y="3502152"/>
            <a:ext cx="4343400" cy="384048"/>
          </a:xfrm>
          <a:prstGeom prst="rect">
            <a:avLst/>
          </a:prstGeom>
          <a:noFill/>
          <a:ln/>
        </p:spPr>
        <p:txBody>
          <a:bodyPr wrap="square" lIns="0" tIns="0" rIns="0" bIns="0" rtlCol="0" anchor="ctr"/>
          <a:lstStyle/>
          <a:p>
            <a:pPr indent="0" marL="0">
              <a:buNone/>
            </a:pPr>
            <a:r>
              <a:rPr lang="en-US" sz="1400" dirty="0">
                <a:solidFill>
                  <a:schemeClr val="tx1"/>
                </a:solidFill>
              </a:rPr>
              <a:t>8 datos inválidos generan 8 mensajes de error</a:t>
            </a:r>
            <a:endParaRPr lang="en-US" sz="1400" dirty="0"/>
          </a:p>
        </p:txBody>
      </p:sp>
      <p:pic>
        <p:nvPicPr>
          <p:cNvPr id="16" name="Check 5" descr="preencoded.png">    </p:cNvPr>
          <p:cNvPicPr>
            <a:picLocks noChangeAspect="1"/>
          </p:cNvPicPr>
          <p:nvPr/>
        </p:nvPicPr>
        <p:blipFill>
          <a:blip r:embed="rId6"/>
          <a:stretch>
            <a:fillRect/>
          </a:stretch>
        </p:blipFill>
        <p:spPr>
          <a:xfrm>
            <a:off x="3931920" y="4041648"/>
            <a:ext cx="256032" cy="256032"/>
          </a:xfrm>
          <a:prstGeom prst="rect">
            <a:avLst/>
          </a:prstGeom>
        </p:spPr>
      </p:pic>
      <p:sp>
        <p:nvSpPr>
          <p:cNvPr id="17" name="Prueba 5"/>
          <p:cNvSpPr txBox="1"/>
          <p:nvPr/>
        </p:nvSpPr>
        <p:spPr>
          <a:xfrm>
            <a:off x="4343400" y="3977640"/>
            <a:ext cx="4343400" cy="384048"/>
          </a:xfrm>
          <a:prstGeom prst="rect">
            <a:avLst/>
          </a:prstGeom>
          <a:noFill/>
          <a:ln/>
        </p:spPr>
        <p:txBody>
          <a:bodyPr wrap="square" lIns="0" tIns="0" rIns="0" bIns="0" rtlCol="0" anchor="ctr"/>
          <a:lstStyle/>
          <a:p>
            <a:pPr indent="0" marL="0">
              <a:buNone/>
            </a:pPr>
            <a:r>
              <a:rPr lang="en-US" sz="1400" dirty="0">
                <a:solidFill>
                  <a:schemeClr val="tx1"/>
                </a:solidFill>
              </a:rPr>
              <a:t>Texto &lt;script&gt; se muestra, no se ejecuta</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Decisiones técnicas que tomamos</a:t>
            </a:r>
            <a:endParaRPr lang="en-US" sz="3000" dirty="0"/>
          </a:p>
        </p:txBody>
      </p:sp>
      <p:sp>
        <p:nvSpPr>
          <p:cNvPr id="3" name="Decisión 0"/>
          <p:cNvSpPr/>
          <p:nvPr/>
        </p:nvSpPr>
        <p:spPr>
          <a:xfrm>
            <a:off x="457200" y="1097280"/>
            <a:ext cx="4023360" cy="1600200"/>
          </a:xfrm>
          <a:prstGeom prst="roundRect">
            <a:avLst>
              <a:gd name="adj" fmla="val 4571"/>
            </a:avLst>
          </a:prstGeom>
          <a:solidFill>
            <a:srgbClr val="EEF3F8"/>
          </a:solidFill>
          <a:ln w="12700">
            <a:solidFill>
              <a:srgbClr val="EEF3F8"/>
            </a:solidFill>
            <a:prstDash val="solid"/>
          </a:ln>
        </p:spPr>
      </p:sp>
      <p:sp>
        <p:nvSpPr>
          <p:cNvPr id="4" name="Decisión 0 círculo"/>
          <p:cNvSpPr/>
          <p:nvPr/>
        </p:nvSpPr>
        <p:spPr>
          <a:xfrm>
            <a:off x="685800" y="1554480"/>
            <a:ext cx="685800" cy="685800"/>
          </a:xfrm>
          <a:prstGeom prst="ellipse">
            <a:avLst/>
          </a:prstGeom>
          <a:solidFill>
            <a:srgbClr val="163A5A"/>
          </a:solidFill>
          <a:ln w="12700">
            <a:solidFill>
              <a:srgbClr val="163A5A"/>
            </a:solidFill>
            <a:prstDash val="solid"/>
          </a:ln>
        </p:spPr>
      </p:sp>
      <p:pic>
        <p:nvPicPr>
          <p:cNvPr id="5" name="Decisión 0 ícono" descr="preencoded.png">    </p:cNvPr>
          <p:cNvPicPr>
            <a:picLocks noChangeAspect="1"/>
          </p:cNvPicPr>
          <p:nvPr/>
        </p:nvPicPr>
        <p:blipFill>
          <a:blip r:embed="rId1"/>
          <a:stretch>
            <a:fillRect/>
          </a:stretch>
        </p:blipFill>
        <p:spPr>
          <a:xfrm>
            <a:off x="857250" y="1725930"/>
            <a:ext cx="342900" cy="342900"/>
          </a:xfrm>
          <a:prstGeom prst="rect">
            <a:avLst/>
          </a:prstGeom>
        </p:spPr>
      </p:pic>
      <p:sp>
        <p:nvSpPr>
          <p:cNvPr id="6" name="Texto decisión 0"/>
          <p:cNvSpPr txBox="1"/>
          <p:nvPr/>
        </p:nvSpPr>
        <p:spPr>
          <a:xfrm>
            <a:off x="1600200" y="1234440"/>
            <a:ext cx="2697480" cy="1325880"/>
          </a:xfrm>
          <a:prstGeom prst="rect">
            <a:avLst/>
          </a:prstGeom>
          <a:noFill/>
          <a:ln/>
        </p:spPr>
        <p:txBody>
          <a:bodyPr wrap="square" lIns="0" tIns="0" rIns="0" bIns="0" rtlCol="0" anchor="ctr"/>
          <a:lstStyle/>
          <a:p>
            <a:pPr indent="0" marL="0">
              <a:buNone/>
            </a:pPr>
            <a:r>
              <a:rPr lang="en-US" sz="1500" b="1" dirty="0">
                <a:solidFill>
                  <a:srgbClr val="163A5A"/>
                </a:solidFill>
              </a:rPr>
              <a:t>Lógica en clases, no en el JSP</a:t>
            </a:r>
            <a:endParaRPr lang="en-US" sz="1500" dirty="0"/>
          </a:p>
          <a:p>
            <a:pPr indent="0" marL="0">
              <a:buNone/>
            </a:pPr>
            <a:r>
              <a:rPr lang="en-US" sz="1300" dirty="0">
                <a:solidFill>
                  <a:srgbClr val="5B6576"/>
                </a:solidFill>
              </a:rPr>
              <a:t>Código ordenado y cada clase se prueba por separado.</a:t>
            </a:r>
            <a:endParaRPr lang="en-US" sz="1500" dirty="0"/>
          </a:p>
        </p:txBody>
      </p:sp>
      <p:sp>
        <p:nvSpPr>
          <p:cNvPr id="7" name="Decisión 1"/>
          <p:cNvSpPr/>
          <p:nvPr/>
        </p:nvSpPr>
        <p:spPr>
          <a:xfrm>
            <a:off x="4663440" y="1097280"/>
            <a:ext cx="4023360" cy="1600200"/>
          </a:xfrm>
          <a:prstGeom prst="roundRect">
            <a:avLst>
              <a:gd name="adj" fmla="val 4571"/>
            </a:avLst>
          </a:prstGeom>
          <a:solidFill>
            <a:srgbClr val="EEF3F8"/>
          </a:solidFill>
          <a:ln w="12700">
            <a:solidFill>
              <a:srgbClr val="EEF3F8"/>
            </a:solidFill>
            <a:prstDash val="solid"/>
          </a:ln>
        </p:spPr>
      </p:sp>
      <p:sp>
        <p:nvSpPr>
          <p:cNvPr id="8" name="Decisión 1 círculo"/>
          <p:cNvSpPr/>
          <p:nvPr/>
        </p:nvSpPr>
        <p:spPr>
          <a:xfrm>
            <a:off x="4892040" y="1554480"/>
            <a:ext cx="685800" cy="685800"/>
          </a:xfrm>
          <a:prstGeom prst="ellipse">
            <a:avLst/>
          </a:prstGeom>
          <a:solidFill>
            <a:srgbClr val="1F4E79"/>
          </a:solidFill>
          <a:ln w="12700">
            <a:solidFill>
              <a:srgbClr val="1F4E79"/>
            </a:solidFill>
            <a:prstDash val="solid"/>
          </a:ln>
        </p:spPr>
      </p:sp>
      <p:pic>
        <p:nvPicPr>
          <p:cNvPr id="9" name="Decisión 1 ícono" descr="preencoded.png">    </p:cNvPr>
          <p:cNvPicPr>
            <a:picLocks noChangeAspect="1"/>
          </p:cNvPicPr>
          <p:nvPr/>
        </p:nvPicPr>
        <p:blipFill>
          <a:blip r:embed="rId2"/>
          <a:stretch>
            <a:fillRect/>
          </a:stretch>
        </p:blipFill>
        <p:spPr>
          <a:xfrm>
            <a:off x="5063490" y="1725930"/>
            <a:ext cx="342900" cy="342900"/>
          </a:xfrm>
          <a:prstGeom prst="rect">
            <a:avLst/>
          </a:prstGeom>
        </p:spPr>
      </p:pic>
      <p:sp>
        <p:nvSpPr>
          <p:cNvPr id="10" name="Texto decisión 1"/>
          <p:cNvSpPr txBox="1"/>
          <p:nvPr/>
        </p:nvSpPr>
        <p:spPr>
          <a:xfrm>
            <a:off x="5806440" y="1234440"/>
            <a:ext cx="2697480" cy="1325880"/>
          </a:xfrm>
          <a:prstGeom prst="rect">
            <a:avLst/>
          </a:prstGeom>
          <a:noFill/>
          <a:ln/>
        </p:spPr>
        <p:txBody>
          <a:bodyPr wrap="square" lIns="0" tIns="0" rIns="0" bIns="0" rtlCol="0" anchor="ctr"/>
          <a:lstStyle/>
          <a:p>
            <a:pPr indent="0" marL="0">
              <a:buNone/>
            </a:pPr>
            <a:r>
              <a:rPr lang="en-US" sz="1500" b="1" dirty="0">
                <a:solidFill>
                  <a:srgbClr val="163A5A"/>
                </a:solidFill>
              </a:rPr>
              <a:t>Validar en el servidor</a:t>
            </a:r>
            <a:endParaRPr lang="en-US" sz="1500" dirty="0"/>
          </a:p>
          <a:p>
            <a:pPr indent="0" marL="0">
              <a:buNone/>
            </a:pPr>
            <a:r>
              <a:rPr lang="en-US" sz="1300" dirty="0">
                <a:solidFill>
                  <a:srgbClr val="5B6576"/>
                </a:solidFill>
              </a:rPr>
              <a:t>Las restricciones del navegador se pueden saltar.</a:t>
            </a:r>
            <a:endParaRPr lang="en-US" sz="1500" dirty="0"/>
          </a:p>
        </p:txBody>
      </p:sp>
      <p:sp>
        <p:nvSpPr>
          <p:cNvPr id="11" name="Decisión 2"/>
          <p:cNvSpPr/>
          <p:nvPr/>
        </p:nvSpPr>
        <p:spPr>
          <a:xfrm>
            <a:off x="457200" y="2880360"/>
            <a:ext cx="4023360" cy="1600200"/>
          </a:xfrm>
          <a:prstGeom prst="roundRect">
            <a:avLst>
              <a:gd name="adj" fmla="val 4571"/>
            </a:avLst>
          </a:prstGeom>
          <a:solidFill>
            <a:srgbClr val="EEF3F8"/>
          </a:solidFill>
          <a:ln w="12700">
            <a:solidFill>
              <a:srgbClr val="EEF3F8"/>
            </a:solidFill>
            <a:prstDash val="solid"/>
          </a:ln>
        </p:spPr>
      </p:sp>
      <p:sp>
        <p:nvSpPr>
          <p:cNvPr id="12" name="Decisión 2 círculo"/>
          <p:cNvSpPr/>
          <p:nvPr/>
        </p:nvSpPr>
        <p:spPr>
          <a:xfrm>
            <a:off x="685800" y="3337560"/>
            <a:ext cx="685800" cy="685800"/>
          </a:xfrm>
          <a:prstGeom prst="ellipse">
            <a:avLst/>
          </a:prstGeom>
          <a:solidFill>
            <a:srgbClr val="163A5A"/>
          </a:solidFill>
          <a:ln w="12700">
            <a:solidFill>
              <a:srgbClr val="163A5A"/>
            </a:solidFill>
            <a:prstDash val="solid"/>
          </a:ln>
        </p:spPr>
      </p:sp>
      <p:pic>
        <p:nvPicPr>
          <p:cNvPr id="13" name="Decisión 2 ícono" descr="preencoded.png">    </p:cNvPr>
          <p:cNvPicPr>
            <a:picLocks noChangeAspect="1"/>
          </p:cNvPicPr>
          <p:nvPr/>
        </p:nvPicPr>
        <p:blipFill>
          <a:blip r:embed="rId3"/>
          <a:stretch>
            <a:fillRect/>
          </a:stretch>
        </p:blipFill>
        <p:spPr>
          <a:xfrm>
            <a:off x="857250" y="3509010"/>
            <a:ext cx="342900" cy="342900"/>
          </a:xfrm>
          <a:prstGeom prst="rect">
            <a:avLst/>
          </a:prstGeom>
        </p:spPr>
      </p:pic>
      <p:sp>
        <p:nvSpPr>
          <p:cNvPr id="14" name="Texto decisión 2"/>
          <p:cNvSpPr txBox="1"/>
          <p:nvPr/>
        </p:nvSpPr>
        <p:spPr>
          <a:xfrm>
            <a:off x="1600200" y="3017520"/>
            <a:ext cx="2697480" cy="1325880"/>
          </a:xfrm>
          <a:prstGeom prst="rect">
            <a:avLst/>
          </a:prstGeom>
          <a:noFill/>
          <a:ln/>
        </p:spPr>
        <p:txBody>
          <a:bodyPr wrap="square" lIns="0" tIns="0" rIns="0" bIns="0" rtlCol="0" anchor="ctr"/>
          <a:lstStyle/>
          <a:p>
            <a:pPr indent="0" marL="0">
              <a:buNone/>
            </a:pPr>
            <a:r>
              <a:rPr lang="en-US" sz="1500" b="1" dirty="0">
                <a:solidFill>
                  <a:srgbClr val="163A5A"/>
                </a:solidFill>
              </a:rPr>
              <a:t>Escapar el HTML con replace</a:t>
            </a:r>
            <a:endParaRPr lang="en-US" sz="1500" dirty="0"/>
          </a:p>
          <a:p>
            <a:pPr indent="0" marL="0">
              <a:buNone/>
            </a:pPr>
            <a:r>
              <a:rPr lang="en-US" sz="1300" dirty="0">
                <a:solidFill>
                  <a:srgbClr val="5B6576"/>
                </a:solidFill>
              </a:rPr>
              <a:t>Lo que escribe el usuario se muestra como texto.</a:t>
            </a:r>
            <a:endParaRPr lang="en-US" sz="1500" dirty="0"/>
          </a:p>
        </p:txBody>
      </p:sp>
      <p:sp>
        <p:nvSpPr>
          <p:cNvPr id="15" name="Decisión 3"/>
          <p:cNvSpPr/>
          <p:nvPr/>
        </p:nvSpPr>
        <p:spPr>
          <a:xfrm>
            <a:off x="4663440" y="2880360"/>
            <a:ext cx="4023360" cy="1600200"/>
          </a:xfrm>
          <a:prstGeom prst="roundRect">
            <a:avLst>
              <a:gd name="adj" fmla="val 4571"/>
            </a:avLst>
          </a:prstGeom>
          <a:solidFill>
            <a:srgbClr val="EEF3F8"/>
          </a:solidFill>
          <a:ln w="12700">
            <a:solidFill>
              <a:srgbClr val="EEF3F8"/>
            </a:solidFill>
            <a:prstDash val="solid"/>
          </a:ln>
        </p:spPr>
      </p:sp>
      <p:sp>
        <p:nvSpPr>
          <p:cNvPr id="16" name="Decisión 3 círculo"/>
          <p:cNvSpPr/>
          <p:nvPr/>
        </p:nvSpPr>
        <p:spPr>
          <a:xfrm>
            <a:off x="4892040" y="3337560"/>
            <a:ext cx="685800" cy="685800"/>
          </a:xfrm>
          <a:prstGeom prst="ellipse">
            <a:avLst/>
          </a:prstGeom>
          <a:solidFill>
            <a:srgbClr val="1F4E79"/>
          </a:solidFill>
          <a:ln w="12700">
            <a:solidFill>
              <a:srgbClr val="1F4E79"/>
            </a:solidFill>
            <a:prstDash val="solid"/>
          </a:ln>
        </p:spPr>
      </p:sp>
      <p:pic>
        <p:nvPicPr>
          <p:cNvPr id="17" name="Decisión 3 ícono" descr="preencoded.png">    </p:cNvPr>
          <p:cNvPicPr>
            <a:picLocks noChangeAspect="1"/>
          </p:cNvPicPr>
          <p:nvPr/>
        </p:nvPicPr>
        <p:blipFill>
          <a:blip r:embed="rId4"/>
          <a:stretch>
            <a:fillRect/>
          </a:stretch>
        </p:blipFill>
        <p:spPr>
          <a:xfrm>
            <a:off x="5063490" y="3509010"/>
            <a:ext cx="342900" cy="342900"/>
          </a:xfrm>
          <a:prstGeom prst="rect">
            <a:avLst/>
          </a:prstGeom>
        </p:spPr>
      </p:pic>
      <p:sp>
        <p:nvSpPr>
          <p:cNvPr id="18" name="Texto decisión 3"/>
          <p:cNvSpPr txBox="1"/>
          <p:nvPr/>
        </p:nvSpPr>
        <p:spPr>
          <a:xfrm>
            <a:off x="5806440" y="3017520"/>
            <a:ext cx="2697480" cy="1325880"/>
          </a:xfrm>
          <a:prstGeom prst="rect">
            <a:avLst/>
          </a:prstGeom>
          <a:noFill/>
          <a:ln/>
        </p:spPr>
        <p:txBody>
          <a:bodyPr wrap="square" lIns="0" tIns="0" rIns="0" bIns="0" rtlCol="0" anchor="ctr"/>
          <a:lstStyle/>
          <a:p>
            <a:pPr indent="0" marL="0">
              <a:buNone/>
            </a:pPr>
            <a:r>
              <a:rPr lang="en-US" sz="1500" b="1" dirty="0">
                <a:solidFill>
                  <a:srgbClr val="163A5A"/>
                </a:solidFill>
              </a:rPr>
              <a:t>Redondear con Math</a:t>
            </a:r>
            <a:endParaRPr lang="en-US" sz="1500" dirty="0"/>
          </a:p>
          <a:p>
            <a:pPr indent="0" marL="0">
              <a:buNone/>
            </a:pPr>
            <a:r>
              <a:rPr lang="en-US" sz="1300" dirty="0">
                <a:solidFill>
                  <a:srgbClr val="5B6576"/>
                </a:solidFill>
              </a:rPr>
              <a:t>round para céntimos y ceil para no cobrar de menos.</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Lo que aprendimos</a:t>
            </a:r>
            <a:endParaRPr lang="en-US" sz="3000" dirty="0"/>
          </a:p>
        </p:txBody>
      </p:sp>
      <p:sp>
        <p:nvSpPr>
          <p:cNvPr id="3" name="Aprendizaje JSP + Tomcat"/>
          <p:cNvSpPr/>
          <p:nvPr/>
        </p:nvSpPr>
        <p:spPr>
          <a:xfrm>
            <a:off x="457200" y="1188720"/>
            <a:ext cx="2596896" cy="1645920"/>
          </a:xfrm>
          <a:prstGeom prst="roundRect">
            <a:avLst>
              <a:gd name="adj" fmla="val 4444"/>
            </a:avLst>
          </a:prstGeom>
          <a:solidFill>
            <a:srgbClr val="1F4E79"/>
          </a:solidFill>
          <a:ln w="12700">
            <a:solidFill>
              <a:srgbClr val="1F4E79"/>
            </a:solidFill>
            <a:prstDash val="solid"/>
          </a:ln>
        </p:spPr>
      </p:sp>
      <p:sp>
        <p:nvSpPr>
          <p:cNvPr id="4" name="Texto aprendizaje JSP + Tomcat"/>
          <p:cNvSpPr txBox="1"/>
          <p:nvPr/>
        </p:nvSpPr>
        <p:spPr>
          <a:xfrm>
            <a:off x="640080" y="1325880"/>
            <a:ext cx="2240280" cy="1417320"/>
          </a:xfrm>
          <a:prstGeom prst="rect">
            <a:avLst/>
          </a:prstGeom>
          <a:noFill/>
          <a:ln/>
        </p:spPr>
        <p:txBody>
          <a:bodyPr wrap="square" lIns="0" tIns="0" rIns="0" bIns="0" rtlCol="0" anchor="t"/>
          <a:lstStyle/>
          <a:p>
            <a:pPr indent="0" marL="0">
              <a:spcAft>
                <a:spcPts val="600"/>
              </a:spcAft>
              <a:buNone/>
            </a:pPr>
            <a:r>
              <a:rPr lang="en-US" sz="1800" b="1" dirty="0">
                <a:solidFill>
                  <a:srgbClr val="F2A900"/>
                </a:solidFill>
              </a:rPr>
              <a:t>JSP + Tomcat</a:t>
            </a:r>
            <a:endParaRPr lang="en-US" sz="1800" dirty="0"/>
          </a:p>
          <a:p>
            <a:pPr indent="0" marL="0">
              <a:spcAft>
                <a:spcPts val="600"/>
              </a:spcAft>
              <a:buNone/>
            </a:pPr>
            <a:r>
              <a:rPr lang="en-US" sz="1400" dirty="0">
                <a:solidFill>
                  <a:srgbClr val="FFFFFF"/>
                </a:solidFill>
              </a:rPr>
              <a:t>Cómo viaja un dato del formulario al servidor y vuelve como página.</a:t>
            </a:r>
            <a:endParaRPr lang="en-US" sz="1800" dirty="0"/>
          </a:p>
        </p:txBody>
      </p:sp>
      <p:sp>
        <p:nvSpPr>
          <p:cNvPr id="5" name="Aprendizaje String"/>
          <p:cNvSpPr/>
          <p:nvPr/>
        </p:nvSpPr>
        <p:spPr>
          <a:xfrm>
            <a:off x="3273552" y="1188720"/>
            <a:ext cx="2596896" cy="1645920"/>
          </a:xfrm>
          <a:prstGeom prst="roundRect">
            <a:avLst>
              <a:gd name="adj" fmla="val 4444"/>
            </a:avLst>
          </a:prstGeom>
          <a:solidFill>
            <a:srgbClr val="1F4E79"/>
          </a:solidFill>
          <a:ln w="12700">
            <a:solidFill>
              <a:srgbClr val="1F4E79"/>
            </a:solidFill>
            <a:prstDash val="solid"/>
          </a:ln>
        </p:spPr>
      </p:sp>
      <p:sp>
        <p:nvSpPr>
          <p:cNvPr id="6" name="Texto aprendizaje String"/>
          <p:cNvSpPr txBox="1"/>
          <p:nvPr/>
        </p:nvSpPr>
        <p:spPr>
          <a:xfrm>
            <a:off x="3456432" y="1325880"/>
            <a:ext cx="2240280" cy="1417320"/>
          </a:xfrm>
          <a:prstGeom prst="rect">
            <a:avLst/>
          </a:prstGeom>
          <a:noFill/>
          <a:ln/>
        </p:spPr>
        <p:txBody>
          <a:bodyPr wrap="square" lIns="0" tIns="0" rIns="0" bIns="0" rtlCol="0" anchor="t"/>
          <a:lstStyle/>
          <a:p>
            <a:pPr indent="0" marL="0">
              <a:spcAft>
                <a:spcPts val="600"/>
              </a:spcAft>
              <a:buNone/>
            </a:pPr>
            <a:r>
              <a:rPr lang="en-US" sz="1800" b="1" dirty="0">
                <a:solidFill>
                  <a:srgbClr val="F2A900"/>
                </a:solidFill>
              </a:rPr>
              <a:t>String</a:t>
            </a:r>
            <a:endParaRPr lang="en-US" sz="1800" dirty="0"/>
          </a:p>
          <a:p>
            <a:pPr indent="0" marL="0">
              <a:spcAft>
                <a:spcPts val="600"/>
              </a:spcAft>
              <a:buNone/>
            </a:pPr>
            <a:r>
              <a:rPr lang="en-US" sz="1400" dirty="0">
                <a:solidFill>
                  <a:srgbClr val="FFFFFF"/>
                </a:solidFill>
              </a:rPr>
              <a:t>Validar y transformar texto con métodos como charAt, split y substring.</a:t>
            </a:r>
            <a:endParaRPr lang="en-US" sz="1800" dirty="0"/>
          </a:p>
        </p:txBody>
      </p:sp>
      <p:sp>
        <p:nvSpPr>
          <p:cNvPr id="7" name="Aprendizaje Math"/>
          <p:cNvSpPr/>
          <p:nvPr/>
        </p:nvSpPr>
        <p:spPr>
          <a:xfrm>
            <a:off x="6089904" y="1188720"/>
            <a:ext cx="2596896" cy="1645920"/>
          </a:xfrm>
          <a:prstGeom prst="roundRect">
            <a:avLst>
              <a:gd name="adj" fmla="val 4444"/>
            </a:avLst>
          </a:prstGeom>
          <a:solidFill>
            <a:srgbClr val="1F4E79"/>
          </a:solidFill>
          <a:ln w="12700">
            <a:solidFill>
              <a:srgbClr val="1F4E79"/>
            </a:solidFill>
            <a:prstDash val="solid"/>
          </a:ln>
        </p:spPr>
      </p:sp>
      <p:sp>
        <p:nvSpPr>
          <p:cNvPr id="8" name="Texto aprendizaje Math"/>
          <p:cNvSpPr txBox="1"/>
          <p:nvPr/>
        </p:nvSpPr>
        <p:spPr>
          <a:xfrm>
            <a:off x="6272784" y="1325880"/>
            <a:ext cx="2240280" cy="1417320"/>
          </a:xfrm>
          <a:prstGeom prst="rect">
            <a:avLst/>
          </a:prstGeom>
          <a:noFill/>
          <a:ln/>
        </p:spPr>
        <p:txBody>
          <a:bodyPr wrap="square" lIns="0" tIns="0" rIns="0" bIns="0" rtlCol="0" anchor="t"/>
          <a:lstStyle/>
          <a:p>
            <a:pPr indent="0" marL="0">
              <a:spcAft>
                <a:spcPts val="600"/>
              </a:spcAft>
              <a:buNone/>
            </a:pPr>
            <a:r>
              <a:rPr lang="en-US" sz="1800" b="1" dirty="0">
                <a:solidFill>
                  <a:srgbClr val="F2A900"/>
                </a:solidFill>
              </a:rPr>
              <a:t>Math</a:t>
            </a:r>
            <a:endParaRPr lang="en-US" sz="1800" dirty="0"/>
          </a:p>
          <a:p>
            <a:pPr indent="0" marL="0">
              <a:spcAft>
                <a:spcPts val="600"/>
              </a:spcAft>
              <a:buNone/>
            </a:pPr>
            <a:r>
              <a:rPr lang="en-US" sz="1400" dirty="0">
                <a:solidFill>
                  <a:srgbClr val="FFFFFF"/>
                </a:solidFill>
              </a:rPr>
              <a:t>Resolver un cálculo real con round, ceil, pow, min y max.</a:t>
            </a:r>
            <a:endParaRPr lang="en-US" sz="1800" dirty="0"/>
          </a:p>
        </p:txBody>
      </p:sp>
      <p:sp>
        <p:nvSpPr>
          <p:cNvPr id="9" name="Próximos pasos"/>
          <p:cNvSpPr txBox="1"/>
          <p:nvPr/>
        </p:nvSpPr>
        <p:spPr>
          <a:xfrm>
            <a:off x="457200" y="3154680"/>
            <a:ext cx="8229600" cy="457200"/>
          </a:xfrm>
          <a:prstGeom prst="rect">
            <a:avLst/>
          </a:prstGeom>
          <a:noFill/>
          <a:ln/>
        </p:spPr>
        <p:txBody>
          <a:bodyPr wrap="square" lIns="0" tIns="0" rIns="0" bIns="0" rtlCol="0" anchor="ctr"/>
          <a:lstStyle/>
          <a:p>
            <a:pPr indent="0" marL="0">
              <a:buNone/>
            </a:pPr>
            <a:r>
              <a:rPr lang="en-US" sz="1500" b="1" dirty="0">
                <a:solidFill>
                  <a:srgbClr val="F2A900"/>
                </a:solidFill>
              </a:rPr>
              <a:t>Próximos pasos: </a:t>
            </a:r>
            <a:pPr indent="0" marL="0">
              <a:buNone/>
            </a:pPr>
            <a:r>
              <a:rPr lang="en-US" sz="1500" dirty="0">
                <a:solidFill>
                  <a:srgbClr val="EEF3F8"/>
                </a:solidFill>
              </a:rPr>
              <a:t>guardar las cotizaciones en una base de datos y enviarlas por correo al cliente.</a:t>
            </a:r>
            <a:endParaRPr lang="en-US" sz="1500" dirty="0"/>
          </a:p>
        </p:txBody>
      </p:sp>
      <p:sp>
        <p:nvSpPr>
          <p:cNvPr id="10" name="Gracias"/>
          <p:cNvSpPr txBox="1"/>
          <p:nvPr/>
        </p:nvSpPr>
        <p:spPr>
          <a:xfrm>
            <a:off x="457200" y="384048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¡Gracias!</a:t>
            </a:r>
            <a:endParaRPr lang="en-US" sz="3200" dirty="0"/>
          </a:p>
        </p:txBody>
      </p:sp>
    </p:spTree>
  </p:cSld>
  <p:clrMapOvr>
    <a:masterClrMapping/>
  </p:clrMapOvr>
</p:sld>
</file>

<file path=ppt/theme/theme1.xml><?xml version="1.0" encoding="utf-8"?>
<a:theme xmlns:a="http://schemas.openxmlformats.org/drawingml/2006/main" name="Cotizador Web">
  <a:themeElements>
    <a:clrScheme name="Cotizador Web">
      <a:dk1>
        <a:srgbClr val="1B2430"/>
      </a:dk1>
      <a:lt1>
        <a:srgbClr val="FFFFFF"/>
      </a:lt1>
      <a:dk2>
        <a:srgbClr val="163A5A"/>
      </a:dk2>
      <a:lt2>
        <a:srgbClr val="EEF3F8"/>
      </a:lt2>
      <a:accent1>
        <a:srgbClr val="1F4E79"/>
      </a:accent1>
      <a:accent2>
        <a:srgbClr val="F2A900"/>
      </a:accent2>
      <a:accent3>
        <a:srgbClr val="2E7D5B"/>
      </a:accent3>
      <a:accent4>
        <a:srgbClr val="B42318"/>
      </a:accent4>
      <a:accent5>
        <a:srgbClr val="5B6576"/>
      </a:accent5>
      <a:accent6>
        <a:srgbClr val="D9DEE6"/>
      </a:accent6>
      <a:hlink>
        <a:srgbClr val="1F4E79"/>
      </a:hlink>
      <a:folHlink>
        <a:srgbClr val="5B6576"/>
      </a:folHlink>
    </a:clrScheme>
    <a:fontScheme name="Cotizador We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PA2 Cotizador Web</dc:title>
  <dc:subject>PptxGenJS Presentation</dc:subject>
  <dc:creator>Equipo PA2 POO</dc:creator>
  <cp:lastModifiedBy>Equipo PA2 POO</cp:lastModifiedBy>
  <cp:revision>1</cp:revision>
  <dcterms:created xsi:type="dcterms:W3CDTF">2026-10-15T00:19:54Z</dcterms:created>
  <dcterms:modified xsi:type="dcterms:W3CDTF">2026-10-15T00:19:54Z</dcterms:modified>
</cp:coreProperties>
</file>